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github.com/vivek-glitch15/VayuCoupler" TargetMode="External"/><Relationship Id="rId4" Type="http://schemas.openxmlformats.org/officeDocument/2006/relationships/hyperlink" Target="https://vayucoupler.vercel.ap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371600" y="365760"/>
            <a:ext cx="8229600" cy="731520"/>
          </a:xfrm>
          <a:prstGeom prst="rect">
            <a:avLst/>
          </a:prstGeom>
          <a:noFill/>
        </p:spPr>
        <p:txBody>
          <a:bodyPr wrap="square">
            <a:spAutoFit/>
          </a:bodyPr>
          <a:lstStyle/>
          <a:p>
            <a:pPr algn="ctr">
              <a:defRPr sz="3000" b="1">
                <a:solidFill>
                  <a:srgbClr val="0D2F62"/>
                </a:solidFill>
                <a:latin typeface="Georgia"/>
              </a:defRPr>
            </a:pPr>
            <a:r>
              <a:t>SMART INDIA HACKATHON 2026</a:t>
            </a:r>
          </a:p>
        </p:txBody>
      </p:sp>
      <p:sp>
        <p:nvSpPr>
          <p:cNvPr id="3" name="TextBox 2"/>
          <p:cNvSpPr txBox="1"/>
          <p:nvPr/>
        </p:nvSpPr>
        <p:spPr>
          <a:xfrm>
            <a:off x="1371600" y="1097280"/>
            <a:ext cx="8229600" cy="548640"/>
          </a:xfrm>
          <a:prstGeom prst="rect">
            <a:avLst/>
          </a:prstGeom>
          <a:noFill/>
        </p:spPr>
        <p:txBody>
          <a:bodyPr wrap="none">
            <a:spAutoFit/>
          </a:bodyPr>
          <a:lstStyle/>
          <a:p>
            <a:pPr algn="ctr">
              <a:defRPr sz="2000" b="1">
                <a:solidFill>
                  <a:srgbClr val="111827"/>
                </a:solidFill>
                <a:latin typeface="Arial"/>
              </a:defRPr>
            </a:pPr>
            <a:r>
              <a:t>Basic Details of the Team and</a:t>
            </a:r>
            <a:br/>
            <a:r>
              <a:t>Problem Statement</a:t>
            </a:r>
          </a:p>
        </p:txBody>
      </p:sp>
      <p:pic>
        <p:nvPicPr>
          <p:cNvPr id="4" name="Picture 3" descr="sih_header_logo_2026.png"/>
          <p:cNvPicPr>
            <a:picLocks noChangeAspect="1"/>
          </p:cNvPicPr>
          <p:nvPr/>
        </p:nvPicPr>
        <p:blipFill>
          <a:blip r:embed="rId2"/>
          <a:stretch>
            <a:fillRect/>
          </a:stretch>
        </p:blipFill>
        <p:spPr>
          <a:xfrm>
            <a:off x="9875520" y="228600"/>
            <a:ext cx="1920240" cy="660082"/>
          </a:xfrm>
          <a:prstGeom prst="rect">
            <a:avLst/>
          </a:prstGeom>
        </p:spPr>
      </p:pic>
      <p:pic>
        <p:nvPicPr>
          <p:cNvPr id="5" name="Picture 4" descr="sih_bulb_official.png"/>
          <p:cNvPicPr>
            <a:picLocks noChangeAspect="1"/>
          </p:cNvPicPr>
          <p:nvPr/>
        </p:nvPicPr>
        <p:blipFill>
          <a:blip r:embed="rId3"/>
          <a:stretch>
            <a:fillRect/>
          </a:stretch>
        </p:blipFill>
        <p:spPr>
          <a:xfrm>
            <a:off x="7315200" y="1920240"/>
            <a:ext cx="4023360" cy="4023360"/>
          </a:xfrm>
          <a:prstGeom prst="rect">
            <a:avLst/>
          </a:prstGeom>
        </p:spPr>
      </p:pic>
      <p:sp>
        <p:nvSpPr>
          <p:cNvPr id="6" name="TextBox 5"/>
          <p:cNvSpPr txBox="1"/>
          <p:nvPr/>
        </p:nvSpPr>
        <p:spPr>
          <a:xfrm>
            <a:off x="731520" y="2103120"/>
            <a:ext cx="6217920" cy="2877711"/>
          </a:xfrm>
          <a:prstGeom prst="rect">
            <a:avLst/>
          </a:prstGeom>
          <a:noFill/>
        </p:spPr>
        <p:txBody>
          <a:bodyPr wrap="square">
            <a:spAutoFit/>
          </a:bodyPr>
          <a:lstStyle/>
          <a:p>
            <a:pPr>
              <a:spcAft>
                <a:spcPts val="1400"/>
              </a:spcAft>
            </a:pPr>
            <a:r>
              <a:rPr sz="1600" b="1" dirty="0">
                <a:solidFill>
                  <a:srgbClr val="111827"/>
                </a:solidFill>
                <a:latin typeface="Arial"/>
              </a:rPr>
              <a:t>Problem Statement ID –</a:t>
            </a:r>
            <a:r>
              <a:rPr sz="1500" b="0" dirty="0">
                <a:solidFill>
                  <a:srgbClr val="111827"/>
                </a:solidFill>
                <a:latin typeface="Arial"/>
              </a:rPr>
              <a:t> SIH26082</a:t>
            </a:r>
          </a:p>
          <a:p>
            <a:pPr>
              <a:spcAft>
                <a:spcPts val="1400"/>
              </a:spcAft>
            </a:pPr>
            <a:r>
              <a:rPr sz="1600" b="1" dirty="0">
                <a:solidFill>
                  <a:srgbClr val="111827"/>
                </a:solidFill>
                <a:latin typeface="Arial"/>
              </a:rPr>
              <a:t>Problem Statement Title-</a:t>
            </a:r>
            <a:r>
              <a:rPr sz="1500" b="0" dirty="0">
                <a:solidFill>
                  <a:srgbClr val="111827"/>
                </a:solidFill>
                <a:latin typeface="Arial"/>
              </a:rPr>
              <a:t> Air Pollution–Weather Coupled
Forecasting System (Delhi NCR Focus)</a:t>
            </a:r>
          </a:p>
          <a:p>
            <a:pPr>
              <a:spcAft>
                <a:spcPts val="1400"/>
              </a:spcAft>
            </a:pPr>
            <a:r>
              <a:rPr sz="1600" b="1" dirty="0">
                <a:solidFill>
                  <a:srgbClr val="111827"/>
                </a:solidFill>
                <a:latin typeface="Arial"/>
              </a:rPr>
              <a:t>Theme-</a:t>
            </a:r>
            <a:r>
              <a:rPr sz="1500" b="0" dirty="0">
                <a:solidFill>
                  <a:srgbClr val="111827"/>
                </a:solidFill>
                <a:latin typeface="Arial"/>
              </a:rPr>
              <a:t> Disaster Management</a:t>
            </a:r>
          </a:p>
          <a:p>
            <a:pPr>
              <a:spcAft>
                <a:spcPts val="1400"/>
              </a:spcAft>
            </a:pPr>
            <a:r>
              <a:rPr sz="1600" b="1" dirty="0">
                <a:solidFill>
                  <a:srgbClr val="111827"/>
                </a:solidFill>
                <a:latin typeface="Arial"/>
              </a:rPr>
              <a:t>PS Category-</a:t>
            </a:r>
            <a:r>
              <a:rPr sz="1500" b="0" dirty="0">
                <a:solidFill>
                  <a:srgbClr val="111827"/>
                </a:solidFill>
                <a:latin typeface="Arial"/>
              </a:rPr>
              <a:t> Software</a:t>
            </a:r>
          </a:p>
          <a:p>
            <a:pPr>
              <a:spcAft>
                <a:spcPts val="1400"/>
              </a:spcAft>
            </a:pPr>
            <a:r>
              <a:rPr sz="1600" b="1" dirty="0">
                <a:solidFill>
                  <a:srgbClr val="111827"/>
                </a:solidFill>
                <a:latin typeface="Arial"/>
              </a:rPr>
              <a:t>Team ID-</a:t>
            </a:r>
            <a:r>
              <a:rPr sz="1500" b="0" dirty="0">
                <a:solidFill>
                  <a:srgbClr val="111827"/>
                </a:solidFill>
                <a:latin typeface="Arial"/>
              </a:rPr>
              <a:t> </a:t>
            </a:r>
          </a:p>
          <a:p>
            <a:pPr>
              <a:spcAft>
                <a:spcPts val="1400"/>
              </a:spcAft>
            </a:pPr>
            <a:r>
              <a:rPr sz="1600" b="1" dirty="0">
                <a:solidFill>
                  <a:srgbClr val="111827"/>
                </a:solidFill>
                <a:latin typeface="Arial"/>
              </a:rPr>
              <a:t>Team Name (Registered on portal)-</a:t>
            </a:r>
            <a:r>
              <a:rPr sz="1500" b="0" dirty="0">
                <a:solidFill>
                  <a:srgbClr val="111827"/>
                </a:solidFill>
                <a:latin typeface="Arial"/>
              </a:rPr>
              <a:t> </a:t>
            </a:r>
            <a:r>
              <a:rPr lang="en-US" sz="1500" b="0" dirty="0" err="1">
                <a:solidFill>
                  <a:srgbClr val="111827"/>
                </a:solidFill>
                <a:latin typeface="Arial"/>
              </a:rPr>
              <a:t>A</a:t>
            </a:r>
            <a:r>
              <a:rPr sz="1500" b="0" dirty="0" err="1">
                <a:solidFill>
                  <a:srgbClr val="111827"/>
                </a:solidFill>
                <a:latin typeface="Arial"/>
              </a:rPr>
              <a:t>tom</a:t>
            </a:r>
            <a:r>
              <a:rPr lang="en-US" sz="1500" dirty="0" err="1">
                <a:solidFill>
                  <a:srgbClr val="111827"/>
                </a:solidFill>
                <a:latin typeface="Arial"/>
              </a:rPr>
              <a:t>X</a:t>
            </a:r>
            <a:endParaRPr sz="1500" b="0" dirty="0">
              <a:solidFill>
                <a:srgbClr val="111827"/>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11827"/>
                </a:solidFill>
                <a:latin typeface="Arial"/>
              </a:defRPr>
            </a:pPr>
            <a:r>
              <a:rPr lang="en-US" sz="1600" dirty="0" err="1">
                <a:solidFill>
                  <a:srgbClr val="111827"/>
                </a:solidFill>
                <a:latin typeface="Arial"/>
              </a:rPr>
              <a:t>AtomX</a:t>
            </a:r>
            <a:endParaRPr dirty="0"/>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Real-Time Air Quality Explorer with Maps &amp; AI</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2</a:t>
            </a:r>
          </a:p>
        </p:txBody>
      </p:sp>
      <p:sp>
        <p:nvSpPr>
          <p:cNvPr id="7" name="TextBox 6"/>
          <p:cNvSpPr txBox="1"/>
          <p:nvPr/>
        </p:nvSpPr>
        <p:spPr>
          <a:xfrm>
            <a:off x="457200" y="1051560"/>
            <a:ext cx="5486400" cy="4206240"/>
          </a:xfrm>
          <a:prstGeom prst="rect">
            <a:avLst/>
          </a:prstGeom>
          <a:noFill/>
        </p:spPr>
        <p:txBody>
          <a:bodyPr wrap="square">
            <a:spAutoFit/>
          </a:bodyPr>
          <a:lstStyle/>
          <a:p>
            <a:pPr>
              <a:spcAft>
                <a:spcPts val="400"/>
              </a:spcAft>
            </a:pPr>
            <a:r>
              <a:rPr sz="1500" b="1">
                <a:solidFill>
                  <a:srgbClr val="1E3A8A"/>
                </a:solidFill>
                <a:latin typeface="Arial"/>
              </a:rPr>
              <a:t>❖  Unique Idea/Solution:</a:t>
            </a:r>
          </a:p>
          <a:p>
            <a:pPr>
              <a:spcAft>
                <a:spcPts val="1400"/>
              </a:spcAft>
            </a:pPr>
            <a:r>
              <a:rPr sz="1100">
                <a:solidFill>
                  <a:srgbClr val="111827"/>
                </a:solidFill>
                <a:latin typeface="Arial"/>
              </a:rPr>
              <a:t>Our solution leverages atmospheric physics-coupled forecasting, structured databases, and interactive dashboards to enable natural language querying, exploration, and visualization of coupled air quality and meteorology data, democratizing access for researchers, policymakers, students, and non-technical users.</a:t>
            </a:r>
          </a:p>
          <a:p>
            <a:pPr>
              <a:spcAft>
                <a:spcPts val="200"/>
              </a:spcAft>
            </a:pPr>
            <a:r>
              <a:rPr sz="1300" b="1">
                <a:solidFill>
                  <a:srgbClr val="6D28D9"/>
                </a:solidFill>
                <a:latin typeface="Arial"/>
              </a:rPr>
              <a:t>Conversational Access</a:t>
            </a:r>
          </a:p>
          <a:p>
            <a:pPr>
              <a:spcAft>
                <a:spcPts val="1000"/>
              </a:spcAft>
            </a:pPr>
            <a:r>
              <a:rPr sz="1050">
                <a:solidFill>
                  <a:srgbClr val="111827"/>
                </a:solidFill>
                <a:latin typeface="Arial"/>
              </a:rPr>
              <a:t>First-of-its-kind chatbot interface for Delhi NCR air quality, allowing users to ask questions in natural language (no coding/WRF expertise needed) on Past Data &amp; Latest Data.</a:t>
            </a:r>
          </a:p>
          <a:p>
            <a:pPr>
              <a:spcAft>
                <a:spcPts val="200"/>
              </a:spcAft>
            </a:pPr>
            <a:r>
              <a:rPr sz="1300" b="1">
                <a:solidFill>
                  <a:srgbClr val="6D28D9"/>
                </a:solidFill>
                <a:latin typeface="Arial"/>
              </a:rPr>
              <a:t>Integrated Geospatial Maps</a:t>
            </a:r>
          </a:p>
          <a:p>
            <a:pPr>
              <a:spcAft>
                <a:spcPts val="1000"/>
              </a:spcAft>
            </a:pPr>
            <a:r>
              <a:rPr sz="1050">
                <a:solidFill>
                  <a:srgbClr val="111827"/>
                </a:solidFill>
                <a:latin typeface="Arial"/>
              </a:rPr>
              <a:t>Users can explore 16 Delhi NCR monitoring stations on an interactive map and directly query data, animated wind streamlines, and stubble fire clusters from specific regions.</a:t>
            </a:r>
          </a:p>
          <a:p>
            <a:pPr>
              <a:spcAft>
                <a:spcPts val="200"/>
              </a:spcAft>
            </a:pPr>
            <a:r>
              <a:rPr sz="1300" b="1">
                <a:solidFill>
                  <a:srgbClr val="6D28D9"/>
                </a:solidFill>
                <a:latin typeface="Arial"/>
              </a:rPr>
              <a:t>Hybrid Query &amp; Physics System</a:t>
            </a:r>
          </a:p>
          <a:p>
            <a:r>
              <a:rPr sz="1050">
                <a:solidFill>
                  <a:srgbClr val="111827"/>
                </a:solidFill>
                <a:latin typeface="Arial"/>
              </a:rPr>
              <a:t>Combines structured sensor feeds with atmospheric physics equations (Ventilation Index, Inversion Factor K_trap) and Fine-Tuned LLM-driven interpretation using RAG + MCP.</a:t>
            </a:r>
          </a:p>
        </p:txBody>
      </p:sp>
      <p:pic>
        <p:nvPicPr>
          <p:cNvPr id="8" name="Picture 7" descr="framed_real_mobile.png"/>
          <p:cNvPicPr>
            <a:picLocks noChangeAspect="1"/>
          </p:cNvPicPr>
          <p:nvPr/>
        </p:nvPicPr>
        <p:blipFill>
          <a:blip r:embed="rId3"/>
          <a:stretch>
            <a:fillRect/>
          </a:stretch>
        </p:blipFill>
        <p:spPr>
          <a:xfrm>
            <a:off x="6172200" y="1051560"/>
            <a:ext cx="2331720" cy="4451465"/>
          </a:xfrm>
          <a:prstGeom prst="rect">
            <a:avLst/>
          </a:prstGeom>
        </p:spPr>
      </p:pic>
      <p:sp>
        <p:nvSpPr>
          <p:cNvPr id="9" name="Rounded Rectangle 8"/>
          <p:cNvSpPr/>
          <p:nvPr/>
        </p:nvSpPr>
        <p:spPr>
          <a:xfrm>
            <a:off x="8732520" y="109728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Real Time Air Quality Exploration</a:t>
            </a:r>
            <a:br/>
            <a:r>
              <a:t>using Interactive Maps.</a:t>
            </a:r>
          </a:p>
        </p:txBody>
      </p:sp>
      <p:sp>
        <p:nvSpPr>
          <p:cNvPr id="10" name="Rounded Rectangle 9"/>
          <p:cNvSpPr/>
          <p:nvPr/>
        </p:nvSpPr>
        <p:spPr>
          <a:xfrm>
            <a:off x="8732520" y="182880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Conversational Query System</a:t>
            </a:r>
            <a:br/>
            <a:r>
              <a:t>using LLM + RAG Pipelines</a:t>
            </a:r>
          </a:p>
        </p:txBody>
      </p:sp>
      <p:sp>
        <p:nvSpPr>
          <p:cNvPr id="11" name="Rounded Rectangle 10"/>
          <p:cNvSpPr/>
          <p:nvPr/>
        </p:nvSpPr>
        <p:spPr>
          <a:xfrm>
            <a:off x="8732520" y="256032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Automatic Ingestion of CPCB</a:t>
            </a:r>
            <a:br/>
            <a:r>
              <a:t>Sensors + NASA FIRMS Satellites</a:t>
            </a:r>
          </a:p>
        </p:txBody>
      </p:sp>
      <p:sp>
        <p:nvSpPr>
          <p:cNvPr id="12" name="Rounded Rectangle 11"/>
          <p:cNvSpPr/>
          <p:nvPr/>
        </p:nvSpPr>
        <p:spPr>
          <a:xfrm>
            <a:off x="8732520" y="329184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Atmospheric Boundary Layer</a:t>
            </a:r>
            <a:br/>
            <a:r>
              <a:t>(PBLH) &amp; Inversion Coupling</a:t>
            </a:r>
          </a:p>
        </p:txBody>
      </p:sp>
      <p:sp>
        <p:nvSpPr>
          <p:cNvPr id="13" name="Rounded Rectangle 12"/>
          <p:cNvSpPr/>
          <p:nvPr/>
        </p:nvSpPr>
        <p:spPr>
          <a:xfrm>
            <a:off x="8732520" y="402336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Geospatial Tracking of Transboundary</a:t>
            </a:r>
            <a:br/>
            <a:r>
              <a:t>Stubble Fire Plumes &amp; Trajectories</a:t>
            </a:r>
          </a:p>
        </p:txBody>
      </p:sp>
      <p:sp>
        <p:nvSpPr>
          <p:cNvPr id="14" name="Rounded Rectangle 13"/>
          <p:cNvSpPr/>
          <p:nvPr/>
        </p:nvSpPr>
        <p:spPr>
          <a:xfrm>
            <a:off x="8732520" y="475488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Delivers direct scientific insights for</a:t>
            </a:r>
            <a:br/>
            <a:r>
              <a:t>public health, municipal bodies &amp; policy.</a:t>
            </a:r>
          </a:p>
        </p:txBody>
      </p:sp>
      <p:sp>
        <p:nvSpPr>
          <p:cNvPr id="15" name="Rounded Rectangle 14"/>
          <p:cNvSpPr/>
          <p:nvPr/>
        </p:nvSpPr>
        <p:spPr>
          <a:xfrm>
            <a:off x="5303520" y="5349240"/>
            <a:ext cx="3200400" cy="96012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1100" b="1">
                <a:solidFill>
                  <a:srgbClr val="B91C1C"/>
                </a:solidFill>
              </a:rPr>
              <a:t>❖  OUR PROTOTYPE UI - </a:t>
            </a:r>
            <a:r>
              <a:rPr sz="1100" b="1" u="sng">
                <a:solidFill>
                  <a:srgbClr val="0D2F62"/>
                </a:solidFill>
                <a:hlinkClick r:id="rId4"/>
              </a:rPr>
              <a:t>LINK</a:t>
            </a:r>
          </a:p>
          <a:p>
            <a:r>
              <a:rPr sz="1100" b="1">
                <a:solidFill>
                  <a:srgbClr val="B91C1C"/>
                </a:solidFill>
              </a:rPr>
              <a:t>❖  OUR Repository - </a:t>
            </a:r>
            <a:r>
              <a:rPr sz="1100" b="1" u="sng">
                <a:solidFill>
                  <a:srgbClr val="0D2F62"/>
                </a:solidFill>
                <a:hlinkClick r:id="rId5"/>
              </a:rPr>
              <a:t>LINK</a:t>
            </a:r>
          </a:p>
        </p:txBody>
      </p:sp>
      <p:sp>
        <p:nvSpPr>
          <p:cNvPr id="16" name="Rounded Rectangle 15"/>
          <p:cNvSpPr/>
          <p:nvPr/>
        </p:nvSpPr>
        <p:spPr>
          <a:xfrm>
            <a:off x="8641080" y="5349240"/>
            <a:ext cx="3246120" cy="960120"/>
          </a:xfrm>
          <a:prstGeom prst="roundRect">
            <a:avLst/>
          </a:prstGeom>
          <a:solidFill>
            <a:srgbClr val="FFFFFF"/>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1E3A8A"/>
                </a:solidFill>
              </a:rPr>
              <a:t>❖  Prototype Status:
</a:t>
            </a:r>
            <a:r>
              <a:rPr sz="1000">
                <a:solidFill>
                  <a:srgbClr val="111827"/>
                </a:solidFill>
              </a:rPr>
              <a:t>100% Prototype completed; live multi-platform suite (Vercel Web App, Windows Offline App, and Android APK built).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11827"/>
                </a:solidFill>
                <a:latin typeface="Arial"/>
              </a:defRPr>
            </a:pPr>
            <a:r>
              <a:rPr lang="en-US" sz="1600" dirty="0" err="1">
                <a:solidFill>
                  <a:srgbClr val="111827"/>
                </a:solidFill>
                <a:latin typeface="Arial"/>
              </a:rPr>
              <a:t>AtomX</a:t>
            </a:r>
            <a:endParaRPr dirty="0"/>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TECHNICAL APPROACH</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3</a:t>
            </a:r>
          </a:p>
        </p:txBody>
      </p:sp>
      <p:sp>
        <p:nvSpPr>
          <p:cNvPr id="7" name="Rounded Rectangle 6"/>
          <p:cNvSpPr/>
          <p:nvPr/>
        </p:nvSpPr>
        <p:spPr>
          <a:xfrm>
            <a:off x="457200" y="1097280"/>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1E3A8A"/>
                </a:solidFill>
                <a:latin typeface="Arial"/>
              </a:defRPr>
            </a:pPr>
            <a:r>
              <a:t>using Interactive Maps</a:t>
            </a:r>
            <a:br/>
            <a:r>
              <a:t>to Enable region-based</a:t>
            </a:r>
            <a:br/>
            <a:r>
              <a:t>search and intuitive</a:t>
            </a:r>
            <a:br/>
            <a:r>
              <a:t>data discovery.</a:t>
            </a:r>
          </a:p>
        </p:txBody>
      </p:sp>
      <p:sp>
        <p:nvSpPr>
          <p:cNvPr id="8" name="Rounded Rectangle 7"/>
          <p:cNvSpPr/>
          <p:nvPr/>
        </p:nvSpPr>
        <p:spPr>
          <a:xfrm>
            <a:off x="457200" y="2404872"/>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1E3A8A"/>
                </a:solidFill>
                <a:latin typeface="Arial"/>
              </a:defRPr>
            </a:pPr>
            <a:r>
              <a:t>Converts multi-source feeds</a:t>
            </a:r>
            <a:br/>
            <a:r>
              <a:t>into structured databases,</a:t>
            </a:r>
            <a:br/>
            <a:r>
              <a:t>simplifying access and enabling</a:t>
            </a:r>
            <a:br/>
            <a:r>
              <a:t>fast, queryable insights.</a:t>
            </a:r>
          </a:p>
        </p:txBody>
      </p:sp>
      <p:sp>
        <p:nvSpPr>
          <p:cNvPr id="9" name="Rounded Rectangle 8"/>
          <p:cNvSpPr/>
          <p:nvPr/>
        </p:nvSpPr>
        <p:spPr>
          <a:xfrm>
            <a:off x="457200" y="3712464"/>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1E3A8A"/>
                </a:solidFill>
                <a:latin typeface="Arial"/>
              </a:defRPr>
            </a:pPr>
            <a:r>
              <a:t>Answering Queries on</a:t>
            </a:r>
            <a:br/>
            <a:r>
              <a:t>Features like PM2.5, PM10,</a:t>
            </a:r>
            <a:br/>
            <a:r>
              <a:t>Ventilation Index (VI), PBLH,</a:t>
            </a:r>
            <a:br/>
            <a:r>
              <a:t>Thermal Inversion (ΔT)</a:t>
            </a:r>
          </a:p>
        </p:txBody>
      </p:sp>
      <p:sp>
        <p:nvSpPr>
          <p:cNvPr id="10" name="Rounded Rectangle 9"/>
          <p:cNvSpPr/>
          <p:nvPr/>
        </p:nvSpPr>
        <p:spPr>
          <a:xfrm>
            <a:off x="457200" y="5020056"/>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1E3A8A"/>
                </a:solidFill>
                <a:latin typeface="Arial"/>
              </a:defRPr>
            </a:pPr>
            <a:r>
              <a:t>Using Figma To Designing</a:t>
            </a:r>
            <a:br/>
            <a:r>
              <a:t>Our website</a:t>
            </a:r>
            <a:br/>
            <a:r>
              <a:t>Using React.Js / HTML5 for</a:t>
            </a:r>
            <a:br/>
            <a:r>
              <a:t>building interface of website</a:t>
            </a:r>
          </a:p>
        </p:txBody>
      </p:sp>
      <p:pic>
        <p:nvPicPr>
          <p:cNvPr id="11" name="Picture 10" descr="technical_center_composition.png"/>
          <p:cNvPicPr>
            <a:picLocks noChangeAspect="1"/>
          </p:cNvPicPr>
          <p:nvPr/>
        </p:nvPicPr>
        <p:blipFill>
          <a:blip r:embed="rId3"/>
          <a:stretch>
            <a:fillRect/>
          </a:stretch>
        </p:blipFill>
        <p:spPr>
          <a:xfrm>
            <a:off x="3063240" y="1078992"/>
            <a:ext cx="5943600" cy="4754880"/>
          </a:xfrm>
          <a:prstGeom prst="rect">
            <a:avLst/>
          </a:prstGeom>
        </p:spPr>
      </p:pic>
      <p:sp>
        <p:nvSpPr>
          <p:cNvPr id="12" name="Rounded Rectangle 11"/>
          <p:cNvSpPr/>
          <p:nvPr/>
        </p:nvSpPr>
        <p:spPr>
          <a:xfrm>
            <a:off x="9235440" y="1097280"/>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1E3A8A"/>
                </a:solidFill>
                <a:latin typeface="Arial"/>
              </a:defRPr>
            </a:pPr>
            <a:r>
              <a:t>using LLM + RAG</a:t>
            </a:r>
            <a:br/>
            <a:r>
              <a:t>Pipelines</a:t>
            </a:r>
            <a:br/>
            <a:r>
              <a:t>to Allow non-technical</a:t>
            </a:r>
            <a:br/>
            <a:r>
              <a:t>users to ask questions</a:t>
            </a:r>
            <a:br/>
            <a:r>
              <a:t>in plain language.</a:t>
            </a:r>
          </a:p>
        </p:txBody>
      </p:sp>
      <p:sp>
        <p:nvSpPr>
          <p:cNvPr id="13" name="Rounded Rectangle 12"/>
          <p:cNvSpPr/>
          <p:nvPr/>
        </p:nvSpPr>
        <p:spPr>
          <a:xfrm>
            <a:off x="9235440" y="2404872"/>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1E3A8A"/>
                </a:solidFill>
                <a:latin typeface="Arial"/>
              </a:defRPr>
            </a:pPr>
            <a:r>
              <a:t>Geospatial Visualization of</a:t>
            </a:r>
            <a:br/>
            <a:r>
              <a:t>Stubble Plumes &amp; Trajectories</a:t>
            </a:r>
            <a:br/>
            <a:r>
              <a:t>→ Provides clear insights into</a:t>
            </a:r>
            <a:br/>
            <a:r>
              <a:t>smoke transport &amp; coverage.</a:t>
            </a:r>
          </a:p>
        </p:txBody>
      </p:sp>
      <p:sp>
        <p:nvSpPr>
          <p:cNvPr id="14" name="Rounded Rectangle 13"/>
          <p:cNvSpPr/>
          <p:nvPr/>
        </p:nvSpPr>
        <p:spPr>
          <a:xfrm>
            <a:off x="9235440" y="3712464"/>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1E3A8A"/>
                </a:solidFill>
                <a:latin typeface="Arial"/>
              </a:defRPr>
            </a:pPr>
            <a:r>
              <a:t>Using Cloud Deployment</a:t>
            </a:r>
            <a:br/>
            <a:r>
              <a:t>Deploying on Vercel &amp; Render</a:t>
            </a:r>
            <a:br/>
            <a:r>
              <a:t>for scalability, reliability +</a:t>
            </a:r>
            <a:br/>
            <a:r>
              <a:t>100% offline standalone mode.</a:t>
            </a:r>
          </a:p>
        </p:txBody>
      </p:sp>
      <p:sp>
        <p:nvSpPr>
          <p:cNvPr id="15" name="Rounded Rectangle 14"/>
          <p:cNvSpPr/>
          <p:nvPr/>
        </p:nvSpPr>
        <p:spPr>
          <a:xfrm>
            <a:off x="9235440" y="5020056"/>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1E3A8A"/>
                </a:solidFill>
                <a:latin typeface="Arial"/>
              </a:defRPr>
            </a:pPr>
            <a:r>
              <a:t>Using Node.Js / FastAPI for</a:t>
            </a:r>
            <a:br/>
            <a:r>
              <a:t>managing requests, database,</a:t>
            </a:r>
            <a:br/>
            <a:r>
              <a:t>and running physics models</a:t>
            </a:r>
            <a:br/>
            <a:r>
              <a:t>&amp; GRAP dispatch rules.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11827"/>
                </a:solidFill>
                <a:latin typeface="Arial"/>
              </a:defRPr>
            </a:pPr>
            <a:r>
              <a:rPr lang="en-US" sz="1600" dirty="0" err="1">
                <a:solidFill>
                  <a:srgbClr val="111827"/>
                </a:solidFill>
                <a:latin typeface="Arial"/>
              </a:rPr>
              <a:t>AtomX</a:t>
            </a:r>
            <a:endParaRPr dirty="0"/>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FEASIBILITY AND VIABILITY</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4</a:t>
            </a:r>
          </a:p>
        </p:txBody>
      </p:sp>
      <p:sp>
        <p:nvSpPr>
          <p:cNvPr id="7" name="TextBox 6"/>
          <p:cNvSpPr txBox="1"/>
          <p:nvPr/>
        </p:nvSpPr>
        <p:spPr>
          <a:xfrm>
            <a:off x="548640" y="1051560"/>
            <a:ext cx="11064240" cy="1463040"/>
          </a:xfrm>
          <a:prstGeom prst="rect">
            <a:avLst/>
          </a:prstGeom>
          <a:noFill/>
        </p:spPr>
        <p:txBody>
          <a:bodyPr wrap="square">
            <a:spAutoFit/>
          </a:bodyPr>
          <a:lstStyle/>
          <a:p>
            <a:pPr>
              <a:spcAft>
                <a:spcPts val="400"/>
              </a:spcAft>
            </a:pPr>
            <a:r>
              <a:rPr sz="1650" b="1">
                <a:solidFill>
                  <a:srgbClr val="111827"/>
                </a:solidFill>
                <a:latin typeface="Arial"/>
              </a:rPr>
              <a:t>❖  Feasibility:</a:t>
            </a:r>
          </a:p>
          <a:p>
            <a:r>
              <a:rPr sz="1150">
                <a:solidFill>
                  <a:srgbClr val="111827"/>
                </a:solidFill>
                <a:latin typeface="Arial"/>
              </a:rPr>
              <a:t>This project is technically feasible as it leverages existing AI/ML, atmospheric dispersion physics, and verified open geospatial datasets. CPCB ground telemetry, IMD meteorological soundings, and NASA FIRMS satellite feeds are publicly accessible, and with structured conversion plus cloud deployment, the system can scale to handle large volumes of environmental data. The integration of LLMs with geospatial dashboards and physics equations ensures both usability and accuracy, making the solution practical for researchers, policymakers, and educators.</a:t>
            </a:r>
          </a:p>
        </p:txBody>
      </p:sp>
      <p:sp>
        <p:nvSpPr>
          <p:cNvPr id="8" name="TextBox 7"/>
          <p:cNvSpPr txBox="1"/>
          <p:nvPr/>
        </p:nvSpPr>
        <p:spPr>
          <a:xfrm>
            <a:off x="548640" y="2697480"/>
            <a:ext cx="5394960" cy="3566160"/>
          </a:xfrm>
          <a:prstGeom prst="rect">
            <a:avLst/>
          </a:prstGeom>
          <a:noFill/>
        </p:spPr>
        <p:txBody>
          <a:bodyPr wrap="square">
            <a:spAutoFit/>
          </a:bodyPr>
          <a:lstStyle/>
          <a:p>
            <a:pPr>
              <a:spcAft>
                <a:spcPts val="800"/>
              </a:spcAft>
            </a:pPr>
            <a:r>
              <a:rPr sz="1500" b="1">
                <a:solidFill>
                  <a:srgbClr val="111827"/>
                </a:solidFill>
                <a:latin typeface="Arial"/>
              </a:rPr>
              <a:t>❖  Potential challenges and risks:</a:t>
            </a:r>
          </a:p>
          <a:p>
            <a:pPr>
              <a:spcAft>
                <a:spcPts val="800"/>
              </a:spcAft>
            </a:pPr>
            <a:r>
              <a:rPr sz="1100" b="1">
                <a:solidFill>
                  <a:srgbClr val="6D28D9"/>
                </a:solidFill>
              </a:rPr>
              <a:t>➤  Query Accuracy: </a:t>
            </a:r>
            <a:r>
              <a:rPr sz="1100">
                <a:solidFill>
                  <a:srgbClr val="111827"/>
                </a:solidFill>
              </a:rPr>
              <a:t>LLM may misinterpret complex atmospheric queries → </a:t>
            </a:r>
            <a:r>
              <a:rPr sz="1100" b="1">
                <a:solidFill>
                  <a:srgbClr val="111827"/>
                </a:solidFill>
              </a:rPr>
              <a:t>Mitigation: </a:t>
            </a:r>
            <a:r>
              <a:rPr sz="1100">
                <a:solidFill>
                  <a:srgbClr val="111827"/>
                </a:solidFill>
              </a:rPr>
              <a:t>Fine-tuning + RAG with domain-specific meteorological metadata.</a:t>
            </a:r>
          </a:p>
          <a:p>
            <a:pPr>
              <a:spcAft>
                <a:spcPts val="800"/>
              </a:spcAft>
            </a:pPr>
            <a:r>
              <a:rPr sz="1100" b="1">
                <a:solidFill>
                  <a:srgbClr val="6D28D9"/>
                </a:solidFill>
              </a:rPr>
              <a:t>➤  Data Quality &amp; Coverage: </a:t>
            </a:r>
            <a:r>
              <a:rPr sz="1100">
                <a:solidFill>
                  <a:srgbClr val="111827"/>
                </a:solidFill>
              </a:rPr>
              <a:t>Heavy cloud cover or limited sensors in certain sub-districts → </a:t>
            </a:r>
            <a:r>
              <a:rPr sz="1100" b="1">
                <a:solidFill>
                  <a:srgbClr val="111827"/>
                </a:solidFill>
              </a:rPr>
              <a:t>Mitigation: </a:t>
            </a:r>
            <a:r>
              <a:rPr sz="1100">
                <a:solidFill>
                  <a:srgbClr val="111827"/>
                </a:solidFill>
              </a:rPr>
              <a:t>Data augmentation + integration with satellite AOD &amp; neighboring stations.</a:t>
            </a:r>
          </a:p>
          <a:p>
            <a:pPr>
              <a:spcAft>
                <a:spcPts val="800"/>
              </a:spcAft>
            </a:pPr>
            <a:r>
              <a:rPr sz="1100" b="1">
                <a:solidFill>
                  <a:srgbClr val="6D28D9"/>
                </a:solidFill>
              </a:rPr>
              <a:t>➤  Computational Demand: </a:t>
            </a:r>
            <a:r>
              <a:rPr sz="1100">
                <a:solidFill>
                  <a:srgbClr val="111827"/>
                </a:solidFill>
              </a:rPr>
              <a:t>Real-time spatial-temporal dispersion maps require high resources → </a:t>
            </a:r>
            <a:r>
              <a:rPr sz="1100" b="1">
                <a:solidFill>
                  <a:srgbClr val="111827"/>
                </a:solidFill>
              </a:rPr>
              <a:t>Mitigation: </a:t>
            </a:r>
            <a:r>
              <a:rPr sz="1100">
                <a:solidFill>
                  <a:srgbClr val="111827"/>
                </a:solidFill>
              </a:rPr>
              <a:t>Scalable cloud deployment + vectorized NumPy/Scipy physics modules.</a:t>
            </a:r>
          </a:p>
          <a:p>
            <a:pPr>
              <a:spcAft>
                <a:spcPts val="800"/>
              </a:spcAft>
            </a:pPr>
            <a:r>
              <a:rPr sz="1100" b="1">
                <a:solidFill>
                  <a:srgbClr val="6D28D9"/>
                </a:solidFill>
              </a:rPr>
              <a:t>➤  Multi-Agency Latency: </a:t>
            </a:r>
            <a:r>
              <a:rPr sz="1100">
                <a:solidFill>
                  <a:srgbClr val="111827"/>
                </a:solidFill>
              </a:rPr>
              <a:t>Bureaucratic delay between forecast and enforcement → </a:t>
            </a:r>
            <a:r>
              <a:rPr sz="1100" b="1">
                <a:solidFill>
                  <a:srgbClr val="111827"/>
                </a:solidFill>
              </a:rPr>
              <a:t>Mitigation: </a:t>
            </a:r>
            <a:r>
              <a:rPr sz="1100">
                <a:solidFill>
                  <a:srgbClr val="111827"/>
                </a:solidFill>
              </a:rPr>
              <a:t>Automated role-specific pre-drafted dispatch work orders for CAQM &amp; MCD.</a:t>
            </a:r>
          </a:p>
        </p:txBody>
      </p:sp>
      <p:sp>
        <p:nvSpPr>
          <p:cNvPr id="9" name="TextBox 8"/>
          <p:cNvSpPr txBox="1"/>
          <p:nvPr/>
        </p:nvSpPr>
        <p:spPr>
          <a:xfrm>
            <a:off x="6217920" y="2697480"/>
            <a:ext cx="5394960" cy="3566160"/>
          </a:xfrm>
          <a:prstGeom prst="rect">
            <a:avLst/>
          </a:prstGeom>
          <a:noFill/>
        </p:spPr>
        <p:txBody>
          <a:bodyPr wrap="square">
            <a:spAutoFit/>
          </a:bodyPr>
          <a:lstStyle/>
          <a:p>
            <a:pPr>
              <a:spcAft>
                <a:spcPts val="800"/>
              </a:spcAft>
            </a:pPr>
            <a:r>
              <a:rPr sz="1500" b="1">
                <a:solidFill>
                  <a:srgbClr val="111827"/>
                </a:solidFill>
                <a:latin typeface="Arial"/>
              </a:rPr>
              <a:t>❖  Strategies for Overcoming These
Challenges:</a:t>
            </a:r>
          </a:p>
          <a:p>
            <a:pPr>
              <a:spcAft>
                <a:spcPts val="1200"/>
              </a:spcAft>
            </a:pPr>
            <a:r>
              <a:rPr sz="1100" b="1">
                <a:solidFill>
                  <a:srgbClr val="6D28D9"/>
                </a:solidFill>
              </a:rPr>
              <a:t>➤  RAG + Fine-Tuning: </a:t>
            </a:r>
            <a:r>
              <a:rPr sz="1100">
                <a:solidFill>
                  <a:srgbClr val="111827"/>
                </a:solidFill>
              </a:rPr>
              <a:t>Improve query accuracy with domain-specific atmospheric embeddings, prompt guardrails, and physics transfer learning.</a:t>
            </a:r>
          </a:p>
          <a:p>
            <a:pPr>
              <a:spcAft>
                <a:spcPts val="1200"/>
              </a:spcAft>
            </a:pPr>
            <a:r>
              <a:rPr sz="1100" b="1">
                <a:solidFill>
                  <a:srgbClr val="6D28D9"/>
                </a:solidFill>
              </a:rPr>
              <a:t>➤  Data Optimization: </a:t>
            </a:r>
            <a:r>
              <a:rPr sz="1100">
                <a:solidFill>
                  <a:srgbClr val="111827"/>
                </a:solidFill>
              </a:rPr>
              <a:t>Use Parquet, compact JSON, and compressed indexed local storage for handling large spatial-temporal datasets at sub-second speed.</a:t>
            </a:r>
          </a:p>
          <a:p>
            <a:pPr>
              <a:spcAft>
                <a:spcPts val="1200"/>
              </a:spcAft>
            </a:pPr>
            <a:r>
              <a:rPr sz="1100" b="1">
                <a:solidFill>
                  <a:srgbClr val="6D28D9"/>
                </a:solidFill>
              </a:rPr>
              <a:t>➤  Efficient Visualization: </a:t>
            </a:r>
            <a:r>
              <a:rPr sz="1100">
                <a:solidFill>
                  <a:srgbClr val="111827"/>
                </a:solidFill>
              </a:rPr>
              <a:t>Use optimized libraries (Leaflet, Canvas, SVG overlays) for smooth 60fps real-time map rendering.</a:t>
            </a:r>
          </a:p>
          <a:p>
            <a:pPr>
              <a:spcAft>
                <a:spcPts val="1200"/>
              </a:spcAft>
            </a:pPr>
            <a:r>
              <a:rPr sz="1100" b="1">
                <a:solidFill>
                  <a:srgbClr val="6D28D9"/>
                </a:solidFill>
              </a:rPr>
              <a:t>➤  Multi-Source Integration: </a:t>
            </a:r>
            <a:r>
              <a:rPr sz="1100">
                <a:solidFill>
                  <a:srgbClr val="111827"/>
                </a:solidFill>
              </a:rPr>
              <a:t>Combine CPCB ground monitors with IMD boundary layer meteorology, NASA FIRMS fire satellites, and wind streamlines to fill coverage gaps.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11827"/>
                </a:solidFill>
                <a:latin typeface="Arial"/>
              </a:defRPr>
            </a:pPr>
            <a:r>
              <a:rPr lang="en-US" sz="1600" dirty="0" err="1">
                <a:solidFill>
                  <a:srgbClr val="111827"/>
                </a:solidFill>
                <a:latin typeface="Arial"/>
              </a:rPr>
              <a:t>AtomX</a:t>
            </a:r>
            <a:endParaRPr dirty="0"/>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IMPACT AND BENEFITS</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5</a:t>
            </a:r>
          </a:p>
        </p:txBody>
      </p:sp>
      <p:sp>
        <p:nvSpPr>
          <p:cNvPr id="7" name="TextBox 6"/>
          <p:cNvSpPr txBox="1"/>
          <p:nvPr/>
        </p:nvSpPr>
        <p:spPr>
          <a:xfrm>
            <a:off x="548640" y="1051560"/>
            <a:ext cx="5669280" cy="5120640"/>
          </a:xfrm>
          <a:prstGeom prst="rect">
            <a:avLst/>
          </a:prstGeom>
          <a:noFill/>
        </p:spPr>
        <p:txBody>
          <a:bodyPr wrap="square">
            <a:spAutoFit/>
          </a:bodyPr>
          <a:lstStyle/>
          <a:p>
            <a:pPr>
              <a:spcAft>
                <a:spcPts val="400"/>
              </a:spcAft>
            </a:pPr>
            <a:r>
              <a:rPr sz="1600" b="1">
                <a:solidFill>
                  <a:srgbClr val="111827"/>
                </a:solidFill>
                <a:latin typeface="Arial"/>
              </a:rPr>
              <a:t>❖  Potential Impact on the Target Audience:</a:t>
            </a:r>
          </a:p>
          <a:p>
            <a:pPr>
              <a:spcAft>
                <a:spcPts val="1600"/>
              </a:spcAft>
            </a:pPr>
            <a:r>
              <a:rPr sz="1150">
                <a:solidFill>
                  <a:srgbClr val="111827"/>
                </a:solidFill>
                <a:latin typeface="Arial"/>
              </a:rPr>
              <a:t>The solution makes air pollution data more accessible for researchers, provides policymakers with reliable predictive insights for planning, supports educators and students in learning, helps municipal &amp; health sectors with proactive pre-emptive monitoring, and aids environmental governance groups in coordinated crisis mitigation.</a:t>
            </a:r>
          </a:p>
          <a:p>
            <a:pPr>
              <a:spcAft>
                <a:spcPts val="800"/>
              </a:spcAft>
            </a:pPr>
            <a:r>
              <a:rPr sz="1600" b="1">
                <a:solidFill>
                  <a:srgbClr val="111827"/>
                </a:solidFill>
                <a:latin typeface="Arial"/>
              </a:rPr>
              <a:t>❖  Benefits of the solution:</a:t>
            </a:r>
          </a:p>
          <a:p>
            <a:pPr>
              <a:spcAft>
                <a:spcPts val="1200"/>
              </a:spcAft>
            </a:pPr>
            <a:r>
              <a:rPr sz="1150" b="1">
                <a:solidFill>
                  <a:srgbClr val="6D28D9"/>
                </a:solidFill>
              </a:rPr>
              <a:t>➤  Social: </a:t>
            </a:r>
            <a:r>
              <a:rPr sz="1100">
                <a:solidFill>
                  <a:srgbClr val="111827"/>
                </a:solidFill>
              </a:rPr>
              <a:t>Democratizes access to air quality data for non-technical users, Enhances public awareness, and protects 30M+ citizens via 48h advance health advisories.</a:t>
            </a:r>
          </a:p>
          <a:p>
            <a:pPr>
              <a:spcAft>
                <a:spcPts val="1200"/>
              </a:spcAft>
            </a:pPr>
            <a:r>
              <a:rPr sz="1150" b="1">
                <a:solidFill>
                  <a:srgbClr val="6D28D9"/>
                </a:solidFill>
              </a:rPr>
              <a:t>➤  Economic: </a:t>
            </a:r>
            <a:r>
              <a:rPr sz="1100">
                <a:solidFill>
                  <a:srgbClr val="111827"/>
                </a:solidFill>
              </a:rPr>
              <a:t>Prevents chaotic sudden shutdowns of construction &amp; freight logistics, Enables planned bypasses via EPE/WPE, and Reduces institutional costs of emergency data analysis.</a:t>
            </a:r>
          </a:p>
          <a:p>
            <a:pPr>
              <a:spcAft>
                <a:spcPts val="1200"/>
              </a:spcAft>
            </a:pPr>
            <a:r>
              <a:rPr sz="1150" b="1">
                <a:solidFill>
                  <a:srgbClr val="6D28D9"/>
                </a:solidFill>
              </a:rPr>
              <a:t>➤  Environmental: </a:t>
            </a:r>
            <a:r>
              <a:rPr sz="1100">
                <a:solidFill>
                  <a:srgbClr val="111827"/>
                </a:solidFill>
              </a:rPr>
              <a:t>Improves monitoring of atmospheric boundary layer health and smog indicators, Maximizes anti-smog gun impact before dispersion collapses, and Facilitates early detection of transboundary smoke incursions.</a:t>
            </a:r>
          </a:p>
        </p:txBody>
      </p:sp>
      <p:sp>
        <p:nvSpPr>
          <p:cNvPr id="8" name="Rounded Rectangle 7"/>
          <p:cNvSpPr/>
          <p:nvPr/>
        </p:nvSpPr>
        <p:spPr>
          <a:xfrm>
            <a:off x="6492240" y="1097280"/>
            <a:ext cx="5212080" cy="50292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11827"/>
                </a:solidFill>
                <a:latin typeface="Georgia"/>
              </a:defRPr>
            </a:pPr>
            <a:r>
              <a:t>Air Pollution Observation Network</a:t>
            </a:r>
          </a:p>
        </p:txBody>
      </p:sp>
      <p:pic>
        <p:nvPicPr>
          <p:cNvPr id="9" name="Picture 8" descr="real_app_desktop.png"/>
          <p:cNvPicPr>
            <a:picLocks noChangeAspect="1"/>
          </p:cNvPicPr>
          <p:nvPr/>
        </p:nvPicPr>
        <p:blipFill>
          <a:blip r:embed="rId3"/>
          <a:stretch>
            <a:fillRect/>
          </a:stretch>
        </p:blipFill>
        <p:spPr>
          <a:xfrm>
            <a:off x="6492240" y="1737360"/>
            <a:ext cx="5212080" cy="31644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11827"/>
                </a:solidFill>
                <a:latin typeface="Arial"/>
              </a:defRPr>
            </a:pPr>
            <a:r>
              <a:rPr lang="en-US" sz="1600">
                <a:solidFill>
                  <a:srgbClr val="111827"/>
                </a:solidFill>
                <a:latin typeface="Arial"/>
              </a:rPr>
              <a:t>AtomX</a:t>
            </a:r>
            <a:endParaRPr dirty="0"/>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RESEARCH AND REFERENCES</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6</a:t>
            </a:r>
          </a:p>
        </p:txBody>
      </p:sp>
      <p:sp>
        <p:nvSpPr>
          <p:cNvPr id="7" name="Rectangle 6"/>
          <p:cNvSpPr/>
          <p:nvPr/>
        </p:nvSpPr>
        <p:spPr>
          <a:xfrm>
            <a:off x="731520" y="1143000"/>
            <a:ext cx="10698480" cy="5074920"/>
          </a:xfrm>
          <a:prstGeom prst="rect">
            <a:avLst/>
          </a:prstGeom>
          <a:solidFill>
            <a:srgbClr val="FFFFFF"/>
          </a:solidFill>
          <a:ln w="15240">
            <a:solidFill>
              <a:srgbClr val="11182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pPr>
            <a:r>
              <a:rPr sz="1150" b="1">
                <a:solidFill>
                  <a:srgbClr val="111827"/>
                </a:solidFill>
              </a:rPr>
              <a:t>1.  SAFAR: Air Quality and Weather Forecasting And Research </a:t>
            </a:r>
            <a:r>
              <a:rPr sz="1100" b="0">
                <a:solidFill>
                  <a:srgbClr val="111827"/>
                </a:solidFill>
              </a:rPr>
              <a:t>Authors: Gufran Beig, S. Parkhi, et al. (2015) </a:t>
            </a:r>
            <a:r>
              <a:rPr sz="1100" b="1">
                <a:solidFill>
                  <a:srgbClr val="111827"/>
                </a:solidFill>
              </a:rPr>
              <a:t>Summary: </a:t>
            </a:r>
            <a:r>
              <a:rPr sz="1050" b="0">
                <a:solidFill>
                  <a:srgbClr val="111827"/>
                </a:solidFill>
              </a:rPr>
              <a:t>Introduces SAFAR-Delhi, the foundational operational framework for coupling meteorological boundary layer dynamics with Eulerian chemical transport models over the National Capital Region. Evaluates boundary layer ventilation coefficients and transboundary dispersion pathways.</a:t>
            </a:r>
          </a:p>
          <a:p>
            <a:pPr>
              <a:spcAft>
                <a:spcPts val="1400"/>
              </a:spcAft>
            </a:pPr>
            <a:r>
              <a:rPr sz="1150" b="1">
                <a:solidFill>
                  <a:srgbClr val="111827"/>
                </a:solidFill>
              </a:rPr>
              <a:t>2.  NASA FIRMS: Active Fire Detection &amp; Transboundary Smoke Attribution </a:t>
            </a:r>
            <a:r>
              <a:rPr sz="1100" b="0">
                <a:solidFill>
                  <a:srgbClr val="111827"/>
                </a:solidFill>
              </a:rPr>
              <a:t>Authors: Wilfrid Schroeder, Louis Giglio, et al. (2014) </a:t>
            </a:r>
            <a:r>
              <a:rPr sz="1100" b="1">
                <a:solidFill>
                  <a:srgbClr val="111827"/>
                </a:solidFill>
              </a:rPr>
              <a:t>Summary: </a:t>
            </a:r>
            <a:r>
              <a:rPr sz="1050" b="0">
                <a:solidFill>
                  <a:srgbClr val="111827"/>
                </a:solidFill>
              </a:rPr>
              <a:t>Validates 375m VIIRS and MODIS satellite thermal anomaly detection for biomass burning, agricultural stubble fires, and real-time transboundary plume transport tracking across South Asia. Demonstrates robust spatial correlation with downwind particulate matter spikes.</a:t>
            </a:r>
          </a:p>
          <a:p>
            <a:pPr>
              <a:spcAft>
                <a:spcPts val="1400"/>
              </a:spcAft>
            </a:pPr>
            <a:r>
              <a:rPr sz="1150" b="1">
                <a:solidFill>
                  <a:srgbClr val="111827"/>
                </a:solidFill>
              </a:rPr>
              <a:t>3.  Graded Response Action Plan (GRAP) Guidelines </a:t>
            </a:r>
            <a:r>
              <a:rPr sz="1100" b="0">
                <a:solidFill>
                  <a:srgbClr val="111827"/>
                </a:solidFill>
              </a:rPr>
              <a:t>Authors: Commission for Air Quality Management in NCR &amp; Adjoining Areas (CAQM, 2023) </a:t>
            </a:r>
            <a:r>
              <a:rPr sz="1100" b="1">
                <a:solidFill>
                  <a:srgbClr val="111827"/>
                </a:solidFill>
              </a:rPr>
              <a:t>Summary: </a:t>
            </a:r>
            <a:r>
              <a:rPr sz="1050" b="0">
                <a:solidFill>
                  <a:srgbClr val="111827"/>
                </a:solidFill>
              </a:rPr>
              <a:t>Official statutory emergency response protocol defining Stage I to Stage IV mitigation actions based on AQI thresholds and meteorological dispersion indices. Provides the baseline rulebook that VayuCoupler transforms from reactive to predictive enforcement.</a:t>
            </a:r>
          </a:p>
          <a:p>
            <a:pPr>
              <a:spcAft>
                <a:spcPts val="1400"/>
              </a:spcAft>
            </a:pPr>
            <a:r>
              <a:rPr sz="1150" b="1">
                <a:solidFill>
                  <a:srgbClr val="111827"/>
                </a:solidFill>
              </a:rPr>
              <a:t>4.  Atmospheric Boundary Layer Dynamics &amp; Inversion Trapping </a:t>
            </a:r>
            <a:r>
              <a:rPr sz="1100" b="0">
                <a:solidFill>
                  <a:srgbClr val="111827"/>
                </a:solidFill>
              </a:rPr>
              <a:t>Authors: Roland B. Stull (1988/2021) </a:t>
            </a:r>
            <a:r>
              <a:rPr sz="1100" b="1">
                <a:solidFill>
                  <a:srgbClr val="111827"/>
                </a:solidFill>
              </a:rPr>
              <a:t>Summary: </a:t>
            </a:r>
            <a:r>
              <a:rPr sz="1050" b="0">
                <a:solidFill>
                  <a:srgbClr val="111827"/>
                </a:solidFill>
              </a:rPr>
              <a:t>Mathematical formulation of Planetary Boundary Layer Height (PBLH), nocturnal thermal inversion capping, and the Ventilation Index (VI = Wind Speed × PBLH) governing basin trapping. Provides the verified physical equations powering VayuCoupler's deterministic coupling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1224</Words>
  <Application>Microsoft Office PowerPoint</Application>
  <PresentationFormat>Widescreen</PresentationFormat>
  <Paragraphs>76</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Yoshit Garg</cp:lastModifiedBy>
  <cp:revision>2</cp:revision>
  <dcterms:created xsi:type="dcterms:W3CDTF">2013-01-27T09:14:16Z</dcterms:created>
  <dcterms:modified xsi:type="dcterms:W3CDTF">2026-09-10T05:46:24Z</dcterms:modified>
  <cp:category/>
</cp:coreProperties>
</file>