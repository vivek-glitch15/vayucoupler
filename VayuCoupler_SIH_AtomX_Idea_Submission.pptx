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hyperlink" Target="https://vayucoupler.vercel.app" TargetMode="External"/><Relationship Id="rId5" Type="http://schemas.openxmlformats.org/officeDocument/2006/relationships/hyperlink" Target="https://github.com/vivek-glitch15/VayuCoupl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371600" y="365760"/>
            <a:ext cx="8229600" cy="731520"/>
          </a:xfrm>
          <a:prstGeom prst="rect">
            <a:avLst/>
          </a:prstGeom>
          <a:noFill/>
        </p:spPr>
        <p:txBody>
          <a:bodyPr wrap="square">
            <a:spAutoFit/>
          </a:bodyPr>
          <a:lstStyle/>
          <a:p>
            <a:pPr algn="ctr">
              <a:defRPr sz="3000" b="1">
                <a:solidFill>
                  <a:srgbClr val="0D2F62"/>
                </a:solidFill>
                <a:latin typeface="Georgia"/>
              </a:defRPr>
            </a:pPr>
            <a:r>
              <a:t>SMART INDIA HACKATHON 2026</a:t>
            </a:r>
          </a:p>
        </p:txBody>
      </p:sp>
      <p:sp>
        <p:nvSpPr>
          <p:cNvPr id="3" name="TextBox 2"/>
          <p:cNvSpPr txBox="1"/>
          <p:nvPr/>
        </p:nvSpPr>
        <p:spPr>
          <a:xfrm>
            <a:off x="1371600" y="1097280"/>
            <a:ext cx="8229600" cy="548640"/>
          </a:xfrm>
          <a:prstGeom prst="rect">
            <a:avLst/>
          </a:prstGeom>
          <a:noFill/>
        </p:spPr>
        <p:txBody>
          <a:bodyPr wrap="none">
            <a:spAutoFit/>
          </a:bodyPr>
          <a:lstStyle/>
          <a:p>
            <a:pPr algn="ctr">
              <a:defRPr sz="2000" b="1">
                <a:solidFill>
                  <a:srgbClr val="111827"/>
                </a:solidFill>
                <a:latin typeface="Arial"/>
              </a:defRPr>
            </a:pPr>
            <a:r>
              <a:t>Basic Details of the Team and</a:t>
            </a:r>
            <a:br/>
            <a:r>
              <a:t>Problem Statement</a:t>
            </a:r>
          </a:p>
        </p:txBody>
      </p:sp>
      <p:pic>
        <p:nvPicPr>
          <p:cNvPr id="4" name="Picture 3" descr="sih_header_logo_2026.png"/>
          <p:cNvPicPr>
            <a:picLocks noChangeAspect="1"/>
          </p:cNvPicPr>
          <p:nvPr/>
        </p:nvPicPr>
        <p:blipFill>
          <a:blip r:embed="rId2"/>
          <a:stretch>
            <a:fillRect/>
          </a:stretch>
        </p:blipFill>
        <p:spPr>
          <a:xfrm>
            <a:off x="9875520" y="228600"/>
            <a:ext cx="1920240" cy="660082"/>
          </a:xfrm>
          <a:prstGeom prst="rect">
            <a:avLst/>
          </a:prstGeom>
        </p:spPr>
      </p:pic>
      <p:pic>
        <p:nvPicPr>
          <p:cNvPr id="5" name="Picture 4" descr="sih_bulb_official.png"/>
          <p:cNvPicPr>
            <a:picLocks noChangeAspect="1"/>
          </p:cNvPicPr>
          <p:nvPr/>
        </p:nvPicPr>
        <p:blipFill>
          <a:blip r:embed="rId3"/>
          <a:stretch>
            <a:fillRect/>
          </a:stretch>
        </p:blipFill>
        <p:spPr>
          <a:xfrm>
            <a:off x="7315200" y="1920240"/>
            <a:ext cx="4023360" cy="4023360"/>
          </a:xfrm>
          <a:prstGeom prst="rect">
            <a:avLst/>
          </a:prstGeom>
        </p:spPr>
      </p:pic>
      <p:sp>
        <p:nvSpPr>
          <p:cNvPr id="6" name="TextBox 5"/>
          <p:cNvSpPr txBox="1"/>
          <p:nvPr/>
        </p:nvSpPr>
        <p:spPr>
          <a:xfrm>
            <a:off x="731520" y="2103120"/>
            <a:ext cx="6217920" cy="4114800"/>
          </a:xfrm>
          <a:prstGeom prst="rect">
            <a:avLst/>
          </a:prstGeom>
          <a:noFill/>
        </p:spPr>
        <p:txBody>
          <a:bodyPr wrap="square">
            <a:spAutoFit/>
          </a:bodyPr>
          <a:lstStyle/>
          <a:p>
            <a:pPr>
              <a:spcAft>
                <a:spcPts val="1400"/>
              </a:spcAft>
            </a:pPr>
            <a:r>
              <a:rPr sz="1600" b="1">
                <a:solidFill>
                  <a:srgbClr val="111827"/>
                </a:solidFill>
                <a:latin typeface="Arial"/>
              </a:rPr>
              <a:t>Problem Statement ID –</a:t>
            </a:r>
            <a:r>
              <a:rPr sz="1500" b="0">
                <a:solidFill>
                  <a:srgbClr val="111827"/>
                </a:solidFill>
                <a:latin typeface="Arial"/>
              </a:rPr>
              <a:t> SIH26082</a:t>
            </a:r>
          </a:p>
          <a:p>
            <a:pPr>
              <a:spcAft>
                <a:spcPts val="1400"/>
              </a:spcAft>
            </a:pPr>
            <a:r>
              <a:rPr sz="1600" b="1">
                <a:solidFill>
                  <a:srgbClr val="111827"/>
                </a:solidFill>
                <a:latin typeface="Arial"/>
              </a:rPr>
              <a:t>Problem Statement Title-</a:t>
            </a:r>
            <a:r>
              <a:rPr sz="1500" b="0">
                <a:solidFill>
                  <a:srgbClr val="111827"/>
                </a:solidFill>
                <a:latin typeface="Arial"/>
              </a:rPr>
              <a:t> Air Pollution–Weather Coupled
Forecasting System (Delhi NCR Focus)</a:t>
            </a:r>
          </a:p>
          <a:p>
            <a:pPr>
              <a:spcAft>
                <a:spcPts val="1400"/>
              </a:spcAft>
            </a:pPr>
            <a:r>
              <a:rPr sz="1600" b="1">
                <a:solidFill>
                  <a:srgbClr val="111827"/>
                </a:solidFill>
                <a:latin typeface="Arial"/>
              </a:rPr>
              <a:t>Theme-</a:t>
            </a:r>
            <a:r>
              <a:rPr sz="1500" b="0">
                <a:solidFill>
                  <a:srgbClr val="111827"/>
                </a:solidFill>
                <a:latin typeface="Arial"/>
              </a:rPr>
              <a:t> Disaster Management</a:t>
            </a:r>
          </a:p>
          <a:p>
            <a:pPr>
              <a:spcAft>
                <a:spcPts val="1400"/>
              </a:spcAft>
            </a:pPr>
            <a:r>
              <a:rPr sz="1600" b="1">
                <a:solidFill>
                  <a:srgbClr val="111827"/>
                </a:solidFill>
                <a:latin typeface="Arial"/>
              </a:rPr>
              <a:t>PS Category-</a:t>
            </a:r>
            <a:r>
              <a:rPr sz="1500" b="0">
                <a:solidFill>
                  <a:srgbClr val="111827"/>
                </a:solidFill>
                <a:latin typeface="Arial"/>
              </a:rPr>
              <a:t> Software</a:t>
            </a:r>
          </a:p>
          <a:p>
            <a:pPr>
              <a:spcAft>
                <a:spcPts val="1400"/>
              </a:spcAft>
            </a:pPr>
            <a:r>
              <a:rPr sz="1600" b="1">
                <a:solidFill>
                  <a:srgbClr val="111827"/>
                </a:solidFill>
                <a:latin typeface="Arial"/>
              </a:rPr>
              <a:t>Team ID-</a:t>
            </a:r>
            <a:r>
              <a:rPr sz="1500" b="0">
                <a:solidFill>
                  <a:srgbClr val="111827"/>
                </a:solidFill>
                <a:latin typeface="Arial"/>
              </a:rPr>
              <a:t> </a:t>
            </a:r>
          </a:p>
          <a:p>
            <a:pPr>
              <a:spcAft>
                <a:spcPts val="1400"/>
              </a:spcAft>
            </a:pPr>
            <a:r>
              <a:rPr sz="1600" b="1">
                <a:solidFill>
                  <a:srgbClr val="111827"/>
                </a:solidFill>
                <a:latin typeface="Arial"/>
              </a:rPr>
              <a:t>Team Name (Registered on portal)-</a:t>
            </a:r>
            <a:r>
              <a:rPr sz="1500" b="0">
                <a:solidFill>
                  <a:srgbClr val="111827"/>
                </a:solidFill>
                <a:latin typeface="Arial"/>
              </a:rPr>
              <a:t> atom(x)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Real-Time Air Quality Explorer with Maps &amp; AI</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2</a:t>
            </a:r>
          </a:p>
        </p:txBody>
      </p:sp>
      <p:sp>
        <p:nvSpPr>
          <p:cNvPr id="7" name="TextBox 6"/>
          <p:cNvSpPr txBox="1"/>
          <p:nvPr/>
        </p:nvSpPr>
        <p:spPr>
          <a:xfrm>
            <a:off x="457200" y="1051560"/>
            <a:ext cx="5486400" cy="4206240"/>
          </a:xfrm>
          <a:prstGeom prst="rect">
            <a:avLst/>
          </a:prstGeom>
          <a:noFill/>
        </p:spPr>
        <p:txBody>
          <a:bodyPr wrap="square">
            <a:spAutoFit/>
          </a:bodyPr>
          <a:lstStyle/>
          <a:p>
            <a:pPr>
              <a:spcAft>
                <a:spcPts val="400"/>
              </a:spcAft>
            </a:pPr>
            <a:r>
              <a:rPr sz="1500" b="1">
                <a:solidFill>
                  <a:srgbClr val="1E3A8A"/>
                </a:solidFill>
                <a:latin typeface="Arial"/>
              </a:rPr>
              <a:t>❖  Unique Idea/Solution:</a:t>
            </a:r>
          </a:p>
          <a:p>
            <a:pPr>
              <a:spcAft>
                <a:spcPts val="1400"/>
              </a:spcAft>
            </a:pPr>
            <a:r>
              <a:rPr sz="1100">
                <a:solidFill>
                  <a:srgbClr val="111827"/>
                </a:solidFill>
                <a:latin typeface="Arial"/>
              </a:rPr>
              <a:t>Our solution leverages atmospheric physics-coupled forecasting, structured databases, and interactive dashboards to enable natural language querying, exploration, and visualization of coupled air quality and meteorology data, democratizing access for researchers, policymakers, students, and non-technical users.</a:t>
            </a:r>
          </a:p>
          <a:p>
            <a:pPr>
              <a:spcAft>
                <a:spcPts val="200"/>
              </a:spcAft>
            </a:pPr>
            <a:r>
              <a:rPr sz="1300" b="1">
                <a:solidFill>
                  <a:srgbClr val="6D28D9"/>
                </a:solidFill>
                <a:latin typeface="Arial"/>
              </a:rPr>
              <a:t>Conversational Access</a:t>
            </a:r>
          </a:p>
          <a:p>
            <a:pPr>
              <a:spcAft>
                <a:spcPts val="1000"/>
              </a:spcAft>
            </a:pPr>
            <a:r>
              <a:rPr sz="1050">
                <a:solidFill>
                  <a:srgbClr val="111827"/>
                </a:solidFill>
                <a:latin typeface="Arial"/>
              </a:rPr>
              <a:t>First-of-its-kind chatbot interface for Delhi NCR air quality, allowing users to ask questions in natural language (no coding/WRF expertise needed) on Past Data &amp; Latest Data.</a:t>
            </a:r>
          </a:p>
          <a:p>
            <a:pPr>
              <a:spcAft>
                <a:spcPts val="200"/>
              </a:spcAft>
            </a:pPr>
            <a:r>
              <a:rPr sz="1300" b="1">
                <a:solidFill>
                  <a:srgbClr val="6D28D9"/>
                </a:solidFill>
                <a:latin typeface="Arial"/>
              </a:rPr>
              <a:t>Integrated Geospatial Maps</a:t>
            </a:r>
          </a:p>
          <a:p>
            <a:pPr>
              <a:spcAft>
                <a:spcPts val="1000"/>
              </a:spcAft>
            </a:pPr>
            <a:r>
              <a:rPr sz="1050">
                <a:solidFill>
                  <a:srgbClr val="111827"/>
                </a:solidFill>
                <a:latin typeface="Arial"/>
              </a:rPr>
              <a:t>Users can explore 16 Delhi NCR monitoring stations on an interactive map and directly query data, animated wind streamlines, and stubble fire clusters from specific regions.</a:t>
            </a:r>
          </a:p>
          <a:p>
            <a:pPr>
              <a:spcAft>
                <a:spcPts val="200"/>
              </a:spcAft>
            </a:pPr>
            <a:r>
              <a:rPr sz="1300" b="1">
                <a:solidFill>
                  <a:srgbClr val="6D28D9"/>
                </a:solidFill>
                <a:latin typeface="Arial"/>
              </a:rPr>
              <a:t>Hybrid Query &amp; Physics System</a:t>
            </a:r>
          </a:p>
          <a:p>
            <a:r>
              <a:rPr sz="1050">
                <a:solidFill>
                  <a:srgbClr val="111827"/>
                </a:solidFill>
                <a:latin typeface="Arial"/>
              </a:rPr>
              <a:t>Combines structured sensor feeds with atmospheric physics equations (Ventilation Index, Inversion Factor K_trap) and Fine-Tuned LLM-driven interpretation using RAG + MCP.</a:t>
            </a:r>
          </a:p>
        </p:txBody>
      </p:sp>
      <p:pic>
        <p:nvPicPr>
          <p:cNvPr id="8" name="Picture 7" descr="framed_real_mobile.png"/>
          <p:cNvPicPr>
            <a:picLocks noChangeAspect="1"/>
          </p:cNvPicPr>
          <p:nvPr/>
        </p:nvPicPr>
        <p:blipFill>
          <a:blip r:embed="rId3"/>
          <a:stretch>
            <a:fillRect/>
          </a:stretch>
        </p:blipFill>
        <p:spPr>
          <a:xfrm>
            <a:off x="6172200" y="1051560"/>
            <a:ext cx="2331720" cy="4557453"/>
          </a:xfrm>
          <a:prstGeom prst="rect">
            <a:avLst/>
          </a:prstGeom>
        </p:spPr>
      </p:pic>
      <p:sp>
        <p:nvSpPr>
          <p:cNvPr id="9" name="Rounded Rectangle 8"/>
          <p:cNvSpPr/>
          <p:nvPr/>
        </p:nvSpPr>
        <p:spPr>
          <a:xfrm>
            <a:off x="8732520" y="10972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Atmospheric Ambient Halo AQI</a:t>
            </a:r>
            <a:br/>
            <a:r>
              <a:t>Cockpit with 3-Day Forecast Strip</a:t>
            </a:r>
          </a:p>
        </p:txBody>
      </p:sp>
      <p:sp>
        <p:nvSpPr>
          <p:cNvPr id="10" name="Rounded Rectangle 9"/>
          <p:cNvSpPr/>
          <p:nvPr/>
        </p:nvSpPr>
        <p:spPr>
          <a:xfrm>
            <a:off x="8732520" y="182880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Google Weather-Style Live</a:t>
            </a:r>
            <a:br/>
            <a:r>
              <a:t>Microclimate Telemetry Engine</a:t>
            </a:r>
          </a:p>
        </p:txBody>
      </p:sp>
      <p:sp>
        <p:nvSpPr>
          <p:cNvPr id="11" name="Rounded Rectangle 10"/>
          <p:cNvSpPr/>
          <p:nvPr/>
        </p:nvSpPr>
        <p:spPr>
          <a:xfrm>
            <a:off x="8732520" y="256032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Interactive Spatial GIS Grid with</a:t>
            </a:r>
            <a:br/>
            <a:r>
              <a:t>40+ CPCB CAAQMS Stations</a:t>
            </a:r>
          </a:p>
        </p:txBody>
      </p:sp>
      <p:sp>
        <p:nvSpPr>
          <p:cNvPr id="12" name="Rounded Rectangle 11"/>
          <p:cNvSpPr/>
          <p:nvPr/>
        </p:nvSpPr>
        <p:spPr>
          <a:xfrm>
            <a:off x="8732520" y="329184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6-Pollutant Real-Time Telemetry:</a:t>
            </a:r>
            <a:br/>
            <a:r>
              <a:t>PM2.5, PM10, NO2, SO2, CO, O3</a:t>
            </a:r>
          </a:p>
        </p:txBody>
      </p:sp>
      <p:sp>
        <p:nvSpPr>
          <p:cNvPr id="13" name="Rounded Rectangle 12"/>
          <p:cNvSpPr/>
          <p:nvPr/>
        </p:nvSpPr>
        <p:spPr>
          <a:xfrm>
            <a:off x="8732520" y="402336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Safe Commute Clean Route Navigator</a:t>
            </a:r>
            <a:br/>
            <a:r>
              <a:t>Cutting 35%–48% Inhaled PM2.5</a:t>
            </a:r>
          </a:p>
        </p:txBody>
      </p:sp>
      <p:sp>
        <p:nvSpPr>
          <p:cNvPr id="14" name="Rounded Rectangle 13"/>
          <p:cNvSpPr/>
          <p:nvPr/>
        </p:nvSpPr>
        <p:spPr>
          <a:xfrm>
            <a:off x="8732520" y="47548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Conversational VayuAI Assistant</a:t>
            </a:r>
            <a:br/>
            <a:r>
              <a:t>for Instant Plain-Language Advice</a:t>
            </a:r>
          </a:p>
        </p:txBody>
      </p:sp>
      <p:sp>
        <p:nvSpPr>
          <p:cNvPr id="15" name="Rounded Rectangle 14"/>
          <p:cNvSpPr/>
          <p:nvPr/>
        </p:nvSpPr>
        <p:spPr>
          <a:xfrm>
            <a:off x="5303520" y="5349240"/>
            <a:ext cx="3200400" cy="960120"/>
          </a:xfrm>
          <a:prstGeom prst="round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b="1" sz="1100">
                <a:solidFill>
                  <a:srgbClr val="B91C1C"/>
                </a:solidFill>
              </a:rPr>
              <a:t>❖  OUR PROTOTYPE UI - </a:t>
            </a:r>
            <a:r>
              <a:rPr b="1" u="sng" sz="1100">
                <a:solidFill>
                  <a:srgbClr val="0D2F62"/>
                </a:solidFill>
                <a:hlinkClick r:id="rId4"/>
              </a:rPr>
              <a:t>LINK</a:t>
            </a:r>
          </a:p>
          <a:p>
            <a:r>
              <a:rPr b="1" sz="1100">
                <a:solidFill>
                  <a:srgbClr val="B91C1C"/>
                </a:solidFill>
              </a:rPr>
              <a:t>❖  OUR Repository - </a:t>
            </a:r>
            <a:r>
              <a:rPr b="1" u="sng" sz="1100">
                <a:solidFill>
                  <a:srgbClr val="0D2F62"/>
                </a:solidFill>
                <a:hlinkClick r:id="rId5"/>
              </a:rPr>
              <a:t>LINK</a:t>
            </a:r>
          </a:p>
        </p:txBody>
      </p:sp>
      <p:sp>
        <p:nvSpPr>
          <p:cNvPr id="16" name="Rounded Rectangle 15"/>
          <p:cNvSpPr/>
          <p:nvPr/>
        </p:nvSpPr>
        <p:spPr>
          <a:xfrm>
            <a:off x="8641080" y="5349240"/>
            <a:ext cx="3246120" cy="960120"/>
          </a:xfrm>
          <a:prstGeom prst="roundRect">
            <a:avLst/>
          </a:prstGeom>
          <a:solidFill>
            <a:srgbClr val="FFFF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1E3A8A"/>
                </a:solidFill>
              </a:rPr>
              <a:t>❖  Prototype Status:
</a:t>
            </a:r>
            <a:r>
              <a:rPr sz="1000">
                <a:solidFill>
                  <a:srgbClr val="111827"/>
                </a:solidFill>
              </a:rPr>
              <a:t>100% Prototype completed; live multi-platform suite (Vercel Web App, Windows Offline App, and Android APK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TECHNICAL APPROACH &amp; APP INTERACTION MODEL</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3</a:t>
            </a:r>
          </a:p>
        </p:txBody>
      </p:sp>
      <p:pic>
        <p:nvPicPr>
          <p:cNvPr id="7" name="Picture 6" descr="app_interaction_model.png"/>
          <p:cNvPicPr>
            <a:picLocks noChangeAspect="1"/>
          </p:cNvPicPr>
          <p:nvPr/>
        </p:nvPicPr>
        <p:blipFill>
          <a:blip r:embed="rId3"/>
          <a:stretch>
            <a:fillRect/>
          </a:stretch>
        </p:blipFill>
        <p:spPr>
          <a:xfrm>
            <a:off x="475488" y="1051560"/>
            <a:ext cx="11247120" cy="53492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FEASIBILITY AND VIABILITY</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4</a:t>
            </a:r>
          </a:p>
        </p:txBody>
      </p:sp>
      <p:sp>
        <p:nvSpPr>
          <p:cNvPr id="7" name="TextBox 6"/>
          <p:cNvSpPr txBox="1"/>
          <p:nvPr/>
        </p:nvSpPr>
        <p:spPr>
          <a:xfrm>
            <a:off x="548640" y="1051560"/>
            <a:ext cx="11064240" cy="1463040"/>
          </a:xfrm>
          <a:prstGeom prst="rect">
            <a:avLst/>
          </a:prstGeom>
          <a:noFill/>
        </p:spPr>
        <p:txBody>
          <a:bodyPr wrap="square">
            <a:spAutoFit/>
          </a:bodyPr>
          <a:lstStyle/>
          <a:p>
            <a:pPr>
              <a:spcAft>
                <a:spcPts val="400"/>
              </a:spcAft>
            </a:pPr>
            <a:r>
              <a:rPr sz="1650" b="1">
                <a:solidFill>
                  <a:srgbClr val="111827"/>
                </a:solidFill>
                <a:latin typeface="Arial"/>
              </a:rPr>
              <a:t>❖  Feasibility:</a:t>
            </a:r>
          </a:p>
          <a:p>
            <a:r>
              <a:rPr sz="1150">
                <a:solidFill>
                  <a:srgbClr val="111827"/>
                </a:solidFill>
                <a:latin typeface="Arial"/>
              </a:rPr>
              <a:t>This project is technically feasible as it leverages existing AI/ML, atmospheric dispersion physics, and verified open geospatial datasets. CPCB ground telemetry, IMD meteorological soundings, and NASA FIRMS satellite feeds are publicly accessible, and with structured conversion plus cloud deployment, the system can scale to handle large volumes of environmental data. The integration of LLMs with geospatial dashboards and physics equations ensures both usability and accuracy, making the solution practical for researchers, policymakers, and educators.</a:t>
            </a:r>
          </a:p>
        </p:txBody>
      </p:sp>
      <p:sp>
        <p:nvSpPr>
          <p:cNvPr id="8" name="TextBox 7"/>
          <p:cNvSpPr txBox="1"/>
          <p:nvPr/>
        </p:nvSpPr>
        <p:spPr>
          <a:xfrm>
            <a:off x="54864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Potential challenges and risks:</a:t>
            </a:r>
          </a:p>
          <a:p>
            <a:pPr>
              <a:spcAft>
                <a:spcPts val="800"/>
              </a:spcAft>
            </a:pPr>
            <a:r>
              <a:rPr b="1" sz="1100">
                <a:solidFill>
                  <a:srgbClr val="6D28D9"/>
                </a:solidFill>
              </a:rPr>
              <a:t>➤  Query Accuracy: </a:t>
            </a:r>
            <a:r>
              <a:rPr sz="1100">
                <a:solidFill>
                  <a:srgbClr val="111827"/>
                </a:solidFill>
              </a:rPr>
              <a:t>LLM may misinterpret complex atmospheric queries → </a:t>
            </a:r>
            <a:r>
              <a:rPr b="1" sz="1100">
                <a:solidFill>
                  <a:srgbClr val="111827"/>
                </a:solidFill>
              </a:rPr>
              <a:t>Mitigation: </a:t>
            </a:r>
            <a:r>
              <a:rPr sz="1100">
                <a:solidFill>
                  <a:srgbClr val="111827"/>
                </a:solidFill>
              </a:rPr>
              <a:t>Fine-tuning + RAG with domain-specific meteorological metadata.</a:t>
            </a:r>
          </a:p>
          <a:p>
            <a:pPr>
              <a:spcAft>
                <a:spcPts val="800"/>
              </a:spcAft>
            </a:pPr>
            <a:r>
              <a:rPr b="1" sz="1100">
                <a:solidFill>
                  <a:srgbClr val="6D28D9"/>
                </a:solidFill>
              </a:rPr>
              <a:t>➤  Data Quality &amp; Coverage: </a:t>
            </a:r>
            <a:r>
              <a:rPr sz="1100">
                <a:solidFill>
                  <a:srgbClr val="111827"/>
                </a:solidFill>
              </a:rPr>
              <a:t>Heavy cloud cover or limited sensors in certain sub-districts → </a:t>
            </a:r>
            <a:r>
              <a:rPr b="1" sz="1100">
                <a:solidFill>
                  <a:srgbClr val="111827"/>
                </a:solidFill>
              </a:rPr>
              <a:t>Mitigation: </a:t>
            </a:r>
            <a:r>
              <a:rPr sz="1100">
                <a:solidFill>
                  <a:srgbClr val="111827"/>
                </a:solidFill>
              </a:rPr>
              <a:t>Data augmentation + integration with satellite AOD &amp; neighboring stations.</a:t>
            </a:r>
          </a:p>
          <a:p>
            <a:pPr>
              <a:spcAft>
                <a:spcPts val="800"/>
              </a:spcAft>
            </a:pPr>
            <a:r>
              <a:rPr b="1" sz="1100">
                <a:solidFill>
                  <a:srgbClr val="6D28D9"/>
                </a:solidFill>
              </a:rPr>
              <a:t>➤  Computational Demand: </a:t>
            </a:r>
            <a:r>
              <a:rPr sz="1100">
                <a:solidFill>
                  <a:srgbClr val="111827"/>
                </a:solidFill>
              </a:rPr>
              <a:t>Real-time spatial-temporal dispersion maps require high resources → </a:t>
            </a:r>
            <a:r>
              <a:rPr b="1" sz="1100">
                <a:solidFill>
                  <a:srgbClr val="111827"/>
                </a:solidFill>
              </a:rPr>
              <a:t>Mitigation: </a:t>
            </a:r>
            <a:r>
              <a:rPr sz="1100">
                <a:solidFill>
                  <a:srgbClr val="111827"/>
                </a:solidFill>
              </a:rPr>
              <a:t>Scalable cloud deployment + vectorized NumPy/Scipy physics modules.</a:t>
            </a:r>
          </a:p>
          <a:p>
            <a:pPr>
              <a:spcAft>
                <a:spcPts val="800"/>
              </a:spcAft>
            </a:pPr>
            <a:r>
              <a:rPr b="1" sz="1100">
                <a:solidFill>
                  <a:srgbClr val="6D28D9"/>
                </a:solidFill>
              </a:rPr>
              <a:t>➤  Multi-Agency Latency: </a:t>
            </a:r>
            <a:r>
              <a:rPr sz="1100">
                <a:solidFill>
                  <a:srgbClr val="111827"/>
                </a:solidFill>
              </a:rPr>
              <a:t>Bureaucratic delay between forecast and enforcement → </a:t>
            </a:r>
            <a:r>
              <a:rPr b="1" sz="1100">
                <a:solidFill>
                  <a:srgbClr val="111827"/>
                </a:solidFill>
              </a:rPr>
              <a:t>Mitigation: </a:t>
            </a:r>
            <a:r>
              <a:rPr sz="1100">
                <a:solidFill>
                  <a:srgbClr val="111827"/>
                </a:solidFill>
              </a:rPr>
              <a:t>Automated role-specific pre-drafted dispatch work orders for CAQM &amp; MCD.</a:t>
            </a:r>
          </a:p>
        </p:txBody>
      </p:sp>
      <p:sp>
        <p:nvSpPr>
          <p:cNvPr id="9" name="TextBox 8"/>
          <p:cNvSpPr txBox="1"/>
          <p:nvPr/>
        </p:nvSpPr>
        <p:spPr>
          <a:xfrm>
            <a:off x="621792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Strategies for Overcoming These
Challenges:</a:t>
            </a:r>
          </a:p>
          <a:p>
            <a:pPr>
              <a:spcAft>
                <a:spcPts val="1200"/>
              </a:spcAft>
            </a:pPr>
            <a:r>
              <a:rPr b="1" sz="1100">
                <a:solidFill>
                  <a:srgbClr val="6D28D9"/>
                </a:solidFill>
              </a:rPr>
              <a:t>➤  RAG + Fine-Tuning: </a:t>
            </a:r>
            <a:r>
              <a:rPr sz="1100">
                <a:solidFill>
                  <a:srgbClr val="111827"/>
                </a:solidFill>
              </a:rPr>
              <a:t>Improve query accuracy with domain-specific atmospheric embeddings, prompt guardrails, and physics transfer learning.</a:t>
            </a:r>
          </a:p>
          <a:p>
            <a:pPr>
              <a:spcAft>
                <a:spcPts val="1200"/>
              </a:spcAft>
            </a:pPr>
            <a:r>
              <a:rPr b="1" sz="1100">
                <a:solidFill>
                  <a:srgbClr val="6D28D9"/>
                </a:solidFill>
              </a:rPr>
              <a:t>➤  Data Optimization: </a:t>
            </a:r>
            <a:r>
              <a:rPr sz="1100">
                <a:solidFill>
                  <a:srgbClr val="111827"/>
                </a:solidFill>
              </a:rPr>
              <a:t>Use Parquet, compact JSON, and compressed indexed local storage for handling large spatial-temporal datasets at sub-second speed.</a:t>
            </a:r>
          </a:p>
          <a:p>
            <a:pPr>
              <a:spcAft>
                <a:spcPts val="1200"/>
              </a:spcAft>
            </a:pPr>
            <a:r>
              <a:rPr b="1" sz="1100">
                <a:solidFill>
                  <a:srgbClr val="6D28D9"/>
                </a:solidFill>
              </a:rPr>
              <a:t>➤  Efficient Visualization: </a:t>
            </a:r>
            <a:r>
              <a:rPr sz="1100">
                <a:solidFill>
                  <a:srgbClr val="111827"/>
                </a:solidFill>
              </a:rPr>
              <a:t>Use optimized libraries (Leaflet, Canvas, SVG overlays) for smooth 60fps real-time map rendering.</a:t>
            </a:r>
          </a:p>
          <a:p>
            <a:pPr>
              <a:spcAft>
                <a:spcPts val="1200"/>
              </a:spcAft>
            </a:pPr>
            <a:r>
              <a:rPr b="1" sz="1100">
                <a:solidFill>
                  <a:srgbClr val="6D28D9"/>
                </a:solidFill>
              </a:rPr>
              <a:t>➤  Multi-Source Integration: </a:t>
            </a:r>
            <a:r>
              <a:rPr sz="1100">
                <a:solidFill>
                  <a:srgbClr val="111827"/>
                </a:solidFill>
              </a:rPr>
              <a:t>Combine CPCB ground monitors with IMD boundary layer meteorology, NASA FIRMS fire satellites, and wind streamlines to fill coverage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IMPACT AND BENEFITS</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5</a:t>
            </a:r>
          </a:p>
        </p:txBody>
      </p:sp>
      <p:sp>
        <p:nvSpPr>
          <p:cNvPr id="7" name="TextBox 6"/>
          <p:cNvSpPr txBox="1"/>
          <p:nvPr/>
        </p:nvSpPr>
        <p:spPr>
          <a:xfrm>
            <a:off x="548640" y="1051560"/>
            <a:ext cx="5669280" cy="5120640"/>
          </a:xfrm>
          <a:prstGeom prst="rect">
            <a:avLst/>
          </a:prstGeom>
          <a:noFill/>
        </p:spPr>
        <p:txBody>
          <a:bodyPr wrap="square">
            <a:spAutoFit/>
          </a:bodyPr>
          <a:lstStyle/>
          <a:p>
            <a:pPr>
              <a:spcAft>
                <a:spcPts val="400"/>
              </a:spcAft>
            </a:pPr>
            <a:r>
              <a:rPr sz="1600" b="1">
                <a:solidFill>
                  <a:srgbClr val="111827"/>
                </a:solidFill>
                <a:latin typeface="Arial"/>
              </a:rPr>
              <a:t>❖  Potential Impact on the Target Audience:</a:t>
            </a:r>
          </a:p>
          <a:p>
            <a:pPr>
              <a:spcAft>
                <a:spcPts val="1600"/>
              </a:spcAft>
            </a:pPr>
            <a:r>
              <a:rPr sz="1150">
                <a:solidFill>
                  <a:srgbClr val="111827"/>
                </a:solidFill>
                <a:latin typeface="Arial"/>
              </a:rPr>
              <a:t>The solution makes air pollution data more accessible for researchers, provides policymakers with reliable predictive insights for planning, supports educators and students in learning, helps municipal &amp; health sectors with proactive pre-emptive monitoring, and aids environmental governance groups in coordinated crisis mitigation.</a:t>
            </a:r>
          </a:p>
          <a:p>
            <a:pPr>
              <a:spcAft>
                <a:spcPts val="800"/>
              </a:spcAft>
            </a:pPr>
            <a:r>
              <a:rPr sz="1600" b="1">
                <a:solidFill>
                  <a:srgbClr val="111827"/>
                </a:solidFill>
                <a:latin typeface="Arial"/>
              </a:rPr>
              <a:t>❖  Benefits of the solution:</a:t>
            </a:r>
          </a:p>
          <a:p>
            <a:pPr>
              <a:spcAft>
                <a:spcPts val="1200"/>
              </a:spcAft>
            </a:pPr>
            <a:r>
              <a:rPr b="1" sz="1150">
                <a:solidFill>
                  <a:srgbClr val="6D28D9"/>
                </a:solidFill>
              </a:rPr>
              <a:t>➤  Social: </a:t>
            </a:r>
            <a:r>
              <a:rPr sz="1100">
                <a:solidFill>
                  <a:srgbClr val="111827"/>
                </a:solidFill>
              </a:rPr>
              <a:t>Democratizes access to air quality data for non-technical users, Enhances public awareness, and protects 30M+ citizens via 48h advance health advisories.</a:t>
            </a:r>
          </a:p>
          <a:p>
            <a:pPr>
              <a:spcAft>
                <a:spcPts val="1200"/>
              </a:spcAft>
            </a:pPr>
            <a:r>
              <a:rPr b="1" sz="1150">
                <a:solidFill>
                  <a:srgbClr val="6D28D9"/>
                </a:solidFill>
              </a:rPr>
              <a:t>➤  Economic: </a:t>
            </a:r>
            <a:r>
              <a:rPr sz="1100">
                <a:solidFill>
                  <a:srgbClr val="111827"/>
                </a:solidFill>
              </a:rPr>
              <a:t>Prevents chaotic sudden shutdowns of construction &amp; freight logistics, Enables planned bypasses via EPE/WPE, and Reduces institutional costs of emergency data analysis.</a:t>
            </a:r>
          </a:p>
          <a:p>
            <a:pPr>
              <a:spcAft>
                <a:spcPts val="1200"/>
              </a:spcAft>
            </a:pPr>
            <a:r>
              <a:rPr b="1" sz="1150">
                <a:solidFill>
                  <a:srgbClr val="6D28D9"/>
                </a:solidFill>
              </a:rPr>
              <a:t>➤  Environmental: </a:t>
            </a:r>
            <a:r>
              <a:rPr sz="1100">
                <a:solidFill>
                  <a:srgbClr val="111827"/>
                </a:solidFill>
              </a:rPr>
              <a:t>Improves monitoring of atmospheric boundary layer health and smog indicators, Maximizes anti-smog gun impact before dispersion collapses, and Facilitates early detection of transboundary smoke incursions.</a:t>
            </a:r>
          </a:p>
        </p:txBody>
      </p:sp>
      <p:sp>
        <p:nvSpPr>
          <p:cNvPr id="8" name="Rounded Rectangle 7"/>
          <p:cNvSpPr/>
          <p:nvPr/>
        </p:nvSpPr>
        <p:spPr>
          <a:xfrm>
            <a:off x="6492240" y="1097280"/>
            <a:ext cx="5212080" cy="50292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111827"/>
                </a:solidFill>
                <a:latin typeface="Georgia"/>
              </a:defRPr>
            </a:pPr>
            <a:r>
              <a:t>Air Pollution Observation Network</a:t>
            </a:r>
          </a:p>
        </p:txBody>
      </p:sp>
      <p:pic>
        <p:nvPicPr>
          <p:cNvPr id="9" name="Picture 8" descr="real_app_desktop.png"/>
          <p:cNvPicPr>
            <a:picLocks noChangeAspect="1"/>
          </p:cNvPicPr>
          <p:nvPr/>
        </p:nvPicPr>
        <p:blipFill>
          <a:blip r:embed="rId3"/>
          <a:stretch>
            <a:fillRect/>
          </a:stretch>
        </p:blipFill>
        <p:spPr>
          <a:xfrm>
            <a:off x="6492240" y="1737360"/>
            <a:ext cx="5212080" cy="316447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RESEARCH AND REFERENCES</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6</a:t>
            </a:r>
          </a:p>
        </p:txBody>
      </p:sp>
      <p:sp>
        <p:nvSpPr>
          <p:cNvPr id="7" name="Rectangle 6"/>
          <p:cNvSpPr/>
          <p:nvPr/>
        </p:nvSpPr>
        <p:spPr>
          <a:xfrm>
            <a:off x="731520" y="1143000"/>
            <a:ext cx="10698480" cy="5074920"/>
          </a:xfrm>
          <a:prstGeom prst="rect">
            <a:avLst/>
          </a:prstGeom>
          <a:solidFill>
            <a:srgbClr val="FFFFFF"/>
          </a:solidFill>
          <a:ln w="1524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rIns="320040" bIns="274320"/>
          <a:lstStyle/>
          <a:p>
            <a:pPr algn="ctr">
              <a:spcAft>
                <a:spcPts val="1400"/>
              </a:spcAft>
            </a:pPr>
            <a:r>
              <a:rPr b="1" sz="1150">
                <a:solidFill>
                  <a:srgbClr val="111827"/>
                </a:solidFill>
              </a:rPr>
              <a:t>1.  SAFAR: Air Quality and Weather Forecasting And Research </a:t>
            </a:r>
            <a:r>
              <a:rPr b="0" sz="1100">
                <a:solidFill>
                  <a:srgbClr val="111827"/>
                </a:solidFill>
              </a:rPr>
              <a:t>Authors: Gufran Beig, S. Parkhi, et al. (2015) </a:t>
            </a:r>
            <a:r>
              <a:rPr b="1" sz="1100">
                <a:solidFill>
                  <a:srgbClr val="111827"/>
                </a:solidFill>
              </a:rPr>
              <a:t>Summary: </a:t>
            </a:r>
            <a:r>
              <a:rPr b="0" sz="1050">
                <a:solidFill>
                  <a:srgbClr val="111827"/>
                </a:solidFill>
              </a:rPr>
              <a:t>Introduces SAFAR-Delhi, the foundational operational framework for coupling meteorological boundary layer dynamics with Eulerian chemical transport models over the National Capital Region. Evaluates boundary layer ventilation coefficients and transboundary dispersion pathways.</a:t>
            </a:r>
          </a:p>
          <a:p>
            <a:pPr>
              <a:spcAft>
                <a:spcPts val="1400"/>
              </a:spcAft>
            </a:pPr>
            <a:r>
              <a:rPr b="1" sz="1150">
                <a:solidFill>
                  <a:srgbClr val="111827"/>
                </a:solidFill>
              </a:rPr>
              <a:t>2.  NASA FIRMS: Active Fire Detection &amp; Transboundary Smoke Attribution </a:t>
            </a:r>
            <a:r>
              <a:rPr b="0" sz="1100">
                <a:solidFill>
                  <a:srgbClr val="111827"/>
                </a:solidFill>
              </a:rPr>
              <a:t>Authors: Wilfrid Schroeder, Louis Giglio, et al. (2014) </a:t>
            </a:r>
            <a:r>
              <a:rPr b="1" sz="1100">
                <a:solidFill>
                  <a:srgbClr val="111827"/>
                </a:solidFill>
              </a:rPr>
              <a:t>Summary: </a:t>
            </a:r>
            <a:r>
              <a:rPr b="0" sz="1050">
                <a:solidFill>
                  <a:srgbClr val="111827"/>
                </a:solidFill>
              </a:rPr>
              <a:t>Validates 375m VIIRS and MODIS satellite thermal anomaly detection for biomass burning, agricultural stubble fires, and real-time transboundary plume transport tracking across South Asia. Demonstrates robust spatial correlation with downwind particulate matter spikes.</a:t>
            </a:r>
          </a:p>
          <a:p>
            <a:pPr>
              <a:spcAft>
                <a:spcPts val="1400"/>
              </a:spcAft>
            </a:pPr>
            <a:r>
              <a:rPr b="1" sz="1150">
                <a:solidFill>
                  <a:srgbClr val="111827"/>
                </a:solidFill>
              </a:rPr>
              <a:t>3.  Graded Response Action Plan (GRAP) Guidelines </a:t>
            </a:r>
            <a:r>
              <a:rPr b="0" sz="1100">
                <a:solidFill>
                  <a:srgbClr val="111827"/>
                </a:solidFill>
              </a:rPr>
              <a:t>Authors: Commission for Air Quality Management in NCR &amp; Adjoining Areas (CAQM, 2023) </a:t>
            </a:r>
            <a:r>
              <a:rPr b="1" sz="1100">
                <a:solidFill>
                  <a:srgbClr val="111827"/>
                </a:solidFill>
              </a:rPr>
              <a:t>Summary: </a:t>
            </a:r>
            <a:r>
              <a:rPr b="0" sz="1050">
                <a:solidFill>
                  <a:srgbClr val="111827"/>
                </a:solidFill>
              </a:rPr>
              <a:t>Official statutory emergency response protocol defining Stage I to Stage IV mitigation actions based on AQI thresholds and meteorological dispersion indices. Provides the baseline rulebook that VayuCoupler transforms from reactive to predictive enforcement.</a:t>
            </a:r>
          </a:p>
          <a:p>
            <a:pPr>
              <a:spcAft>
                <a:spcPts val="1400"/>
              </a:spcAft>
            </a:pPr>
            <a:r>
              <a:rPr b="1" sz="1150">
                <a:solidFill>
                  <a:srgbClr val="111827"/>
                </a:solidFill>
              </a:rPr>
              <a:t>4.  Atmospheric Boundary Layer Dynamics &amp; Inversion Trapping </a:t>
            </a:r>
            <a:r>
              <a:rPr b="0" sz="1100">
                <a:solidFill>
                  <a:srgbClr val="111827"/>
                </a:solidFill>
              </a:rPr>
              <a:t>Authors: Roland B. Stull (1988/2021) </a:t>
            </a:r>
            <a:r>
              <a:rPr b="1" sz="1100">
                <a:solidFill>
                  <a:srgbClr val="111827"/>
                </a:solidFill>
              </a:rPr>
              <a:t>Summary: </a:t>
            </a:r>
            <a:r>
              <a:rPr b="0" sz="1050">
                <a:solidFill>
                  <a:srgbClr val="111827"/>
                </a:solidFill>
              </a:rPr>
              <a:t>Mathematical formulation of Planetary Boundary Layer Height (PBLH), nocturnal thermal inversion capping, and the Ventilation Index (VI = Wind Speed × PBLH) governing basin trapping. Provides the verified physical equations powering VayuCoupler's deterministic coupling engine.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