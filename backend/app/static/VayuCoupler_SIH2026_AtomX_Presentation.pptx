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Calibri"/>
              </a:defRPr>
            </a:pPr>
            <a:r>
              <a:t>SMART INDIA HACKATHON 2026  |  FINALS PITCH DECK  |  SOFTWARE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VAYUCOUPLER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4028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Calibri"/>
              </a:defRPr>
            </a:pPr>
            <a:r>
              <a:t>Real-Time Air Pollution–Weather Coupled Early Warning &amp; Predictive GRAP Decision Support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926080"/>
            <a:ext cx="3108960" cy="13716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63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0175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00E5FF"/>
                </a:solidFill>
              </a:defRPr>
            </a:pPr>
            <a:r>
              <a:t>PROBLEM STATEMENT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ID: SIH26082</a:t>
            </a:r>
            <a:br/>
            <a:r>
              <a:t>Air Pollution–Weather Coupled Forecasting (Delhi NCR Focus)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926080"/>
            <a:ext cx="3108960" cy="13716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63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30175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F59E0B"/>
                </a:solidFill>
              </a:defRPr>
            </a:pPr>
            <a:r>
              <a:t>NODAL MINISTRY &amp; THEME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Ministry of Earth Sciences (MoES)</a:t>
            </a:r>
            <a:br/>
            <a:r>
              <a:t>Theme: Disaster Management</a:t>
            </a:r>
            <a:br/>
            <a:r>
              <a:t>Nodal Body: CAQM &amp; CPCB Alignment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2926080"/>
            <a:ext cx="3383280" cy="13716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63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30175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0B981"/>
                </a:solidFill>
              </a:defRPr>
            </a:pPr>
            <a:r>
              <a:t>TEAM ATOMX IDENTITY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Team Name: AtomX</a:t>
            </a:r>
            <a:br/>
            <a:r>
              <a:t>Live Vercel: https://vayucoupler.vercel.app</a:t>
            </a:r>
            <a:br/>
            <a:r>
              <a:t>GitHub: vivek-glitch15/VayuCoupler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262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E5FF"/>
                </a:solidFill>
              </a:defRPr>
            </a:pPr>
            <a:r>
              <a:t>TEAM ATOMX MEMBERS &amp; DOMAIN LEADERSHIP: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• Vivek Raj (Team Lead — Full-Stack Systems, Coupled Physics &amp; Geospatial Engine)</a:t>
            </a:r>
            <a:br/>
            <a:r>
              <a:t>• Member 2 (Atmospheric Modeling, PBLH &amp; Inversion Dynamics)</a:t>
            </a:r>
            <a:br/>
            <a:r>
              <a:t>• Member 3 (Backend Telemetry &amp; Multi-Agency Dispatch Architecture)</a:t>
            </a:r>
            <a:br/>
            <a:r>
              <a:t>• Member 4 (Geospatial UI/UX, Particle Wind Flow &amp; Disaster Command Visuals)</a:t>
            </a:r>
            <a:br/>
            <a:r>
              <a:t>• Member 5 (ML Forecaster &amp; Attribution Apportionment Engine)</a:t>
            </a:r>
            <a:br/>
            <a:r>
              <a:t>• Member 6 (Cross-Platform Mobile Android &amp; Windows Offline Packaging)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Calibri"/>
              </a:defRPr>
            </a:pPr>
            <a:r>
              <a:t>SIH26082 | CURRENT EMERGENCY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The Problem: Delhi's Smog Trap &amp; The Flaw of Reactive GRAP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Every winter, 30 million citizens choke because current emergency action plans act too late.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EF4444"/>
                </a:solidFill>
              </a:defRPr>
            </a:pPr>
            <a:r>
              <a:t>🚨 THE FATAL FLAW OF REACTIVE GRAP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Current Graded Response Action Plan (GRAP) only imposes curbs AFTER monitors stay in 'Severe' (400+) for 48 hours.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Zero Lead Time: Emergency measures (halting construction, halting trucks) are triggered when the smog has already settled.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Irreversible Exposure: Children &amp; elderly inhale hazardous PM2.5 for 2-3 days before authorities react.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Economic Shock: Sudden blanket bans cause daily-wage worker hardship without averting the initial spike.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8576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59E0B"/>
                </a:solidFill>
              </a:defRPr>
            </a:pPr>
            <a:r>
              <a:t>🔬 DISCONNECTED METEOROLOGY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Air pollution in Delhi is not just an emission problem; it is an atmospheric trapping crisis.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Boundary Layer Compression: Planetary Boundary Layer Height (PBLH) collapses from 1,800m to under 350m.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Thermal Inversion Lid: Colder surface air trapped by warm air aloft prevents vertical dispersion (ΔT &gt; 4°C).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Existing models treat AQI as a black-box statistical curve, ignoring live micro-meteorological dynamics.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38BDF8"/>
                </a:solidFill>
              </a:defRPr>
            </a:pPr>
            <a:r>
              <a:t>🏛️ INTER-STATE SILOS &amp; BLAME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30% to 45% of peak winter PM2.5 in Delhi arrives via trans-boundary transport from Punjab &amp; Haryana stubble fires.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Lack of Unified Synchronization: Delhi enforces Stage-IV curbs while upwind states continue burning due to lack of synchronized alerts.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No Counterfactual Testing: Policymakers cannot test 'What-If' scenarios (e.g. what happens if we divert 5,000 trucks 24h early?).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</a:defRPr>
            </a:pPr>
            <a:r>
              <a:t>• Public Confusion: Citizens and agencies receive conflicting numbers without actionable, role-based instructions.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00E5FF"/>
                </a:solidFill>
                <a:latin typeface="Calibri"/>
              </a:defRPr>
            </a:pPr>
            <a:r>
              <a:t>Slide 2 of 12  •  Production URL: https://vayucoupler.vercel.app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Calibri"/>
              </a:defRPr>
            </a:pPr>
            <a:r>
              <a:t>SIH26082 | BREAKTHROUGH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Our Solution: Predictive GRAP with 48–72h Action Lead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Coupling dynamic atmospheric physics with satellite fire intelligence to prevent smog traps before they 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100584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E5FF"/>
                </a:solidFill>
              </a:defRPr>
            </a:pPr>
            <a:r>
              <a:t>THE PARADIGM SHIFT: REACTIVE GRAP  ➜  PREDICTIVE GRAP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</a:defRPr>
            </a:pPr>
            <a:r>
              <a:t>Instead of waiting for stations to record 400+ AQI, VayuCoupler calculates boundary layer collapse and upwind stubble transport to trigger Stage II, III, and IV curbs 48 to 72 hours BEFORE the critical pollution peak arrives.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2514600" cy="32004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240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1. Dynamic Meteorology Coupling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Ventilation Index (WS × PBLH)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Thermal Inversion (ΔT) Trapping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Wind Vector Stagnation &amp; NW corridor alignment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Zero hallucination: based on atmospheric physics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6" y="2834640"/>
            <a:ext cx="2514600" cy="32004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2736" y="2971800"/>
            <a:ext cx="2240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59E0B"/>
                </a:solidFill>
              </a:defRPr>
            </a:pPr>
            <a:r>
              <a:t>2. Satellite Upwind Stubble Telemetry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NASA FIRMS Active Fire Hotspots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Real-time cluster tracking in Punjab &amp; Haryana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Trans-boundary plume trajectory projection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Source attribution apportionment in real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834640"/>
            <a:ext cx="2514600" cy="32004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2971800"/>
            <a:ext cx="2240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3. Pre-emptive Agency Dispatches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Role-specific automated action orders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Punjab Agri: Bio-decomposers &amp; Happy Seeders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Traffic Police: EPE/WPE peripheral bypass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MCD &amp; DDA: Anti-smog guns &amp; mechanical sweeps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2834640"/>
            <a:ext cx="2514600" cy="32004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0848" y="2971800"/>
            <a:ext cx="2240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A855F7"/>
                </a:solidFill>
              </a:defRPr>
            </a:pPr>
            <a:r>
              <a:t>4. What-If Counterfactual Simulator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Live policy parameter sliders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Simulate 50% stubble reduction impact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Simulate 40% truck diversion impact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Empowers CAQM with data-backed decisions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00E5FF"/>
                </a:solidFill>
                <a:latin typeface="Calibri"/>
              </a:defRPr>
            </a:pPr>
            <a:r>
              <a:t>Slide 3 of 12  •  Production URL: https://vayucoupler.vercel.app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Calibri"/>
              </a:defRPr>
            </a:pPr>
            <a:r>
              <a:t>SIH26082 | SCIENTIFIC &amp; MATHEMATICAL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How Weather–Pollution Coupling Works: The Equations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Zero black-box obscurity — every prediction is grounded in verifiable atmospheric boundary layer physics.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214884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0E5FF"/>
                </a:solidFill>
              </a:defRPr>
            </a:pPr>
            <a:r>
              <a:t>1. VENTILATION INDEX (VI) — ATMOSPHERIC DISPERSION</a:t>
            </a:r>
          </a:p>
          <a:p>
            <a:pPr>
              <a:spcBef>
                <a:spcPts val="600"/>
              </a:spcBef>
              <a:defRPr b="1" sz="1350">
                <a:solidFill>
                  <a:srgbClr val="FFFFFF"/>
                </a:solidFill>
              </a:defRPr>
            </a:pPr>
            <a:r>
              <a:t>VI = Wind Speed (m/s)  ×  PBL Height (m)    [m²/s]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VI &gt; 3,500 m²/s: High atmospheric flushing; ground pollutants disperse quickly.</a:t>
            </a:r>
            <a:br/>
            <a:r>
              <a:t>• VI &lt; 2,000 m²/s: Critical Stagnation &amp; Trapping; Delhi basin behaves as an enclosed room.</a:t>
            </a:r>
            <a:br/>
            <a:r>
              <a:t>• Boundary layer collapses under 400m at night, causing 3× to 5× pollutant concentration spikes.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645920"/>
            <a:ext cx="5166360" cy="214884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78308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59E0B"/>
                </a:solidFill>
              </a:defRPr>
            </a:pPr>
            <a:r>
              <a:t>2. THERMAL INVERSION TRAPPING COEFFICIENT (K_trap)</a:t>
            </a:r>
          </a:p>
          <a:p>
            <a:pPr>
              <a:spcBef>
                <a:spcPts val="600"/>
              </a:spcBef>
              <a:defRPr b="1" sz="1300">
                <a:solidFill>
                  <a:srgbClr val="FFFFFF"/>
                </a:solidFill>
              </a:defRPr>
            </a:pPr>
            <a:r>
              <a:t>K_trap = 1.0 + 0.38(ΔT_inv) + 1.4 × max(0, (2500 - VI) / 2500)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Quantifies the thermal 'atmospheric ceiling' formed over Delhi NCR during cold winter nights.</a:t>
            </a:r>
            <a:br/>
            <a:r>
              <a:t>• ΔT_inv: Temperature difference between 1,000m layer and surface.</a:t>
            </a:r>
            <a:br/>
            <a:r>
              <a:t>• When K_trap exceeds 2.2, standard emissions produce 'Severe+' emergency spikes.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66360" cy="214884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EF4444"/>
                </a:solidFill>
              </a:defRPr>
            </a:pPr>
            <a:r>
              <a:t>3. UPWIND STUBBLE TRANSPORT VECTOR (S_vector)</a:t>
            </a:r>
          </a:p>
          <a:p>
            <a:pPr>
              <a:spcBef>
                <a:spcPts val="600"/>
              </a:spcBef>
              <a:defRPr b="1" sz="1300">
                <a:solidFill>
                  <a:srgbClr val="FFFFFF"/>
                </a:solidFill>
              </a:defRPr>
            </a:pPr>
            <a:r>
              <a:t>S_vector = FireCount × max(0, cos(θ_wind - 315°)) × (WS / 5.0)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Projects the directional dot product of wind angle with the NW stubble plume corridor (315°).</a:t>
            </a:r>
            <a:br/>
            <a:r>
              <a:t>• Only fires with aligned north-westerly wind vectors are transported into the Delhi bowl.</a:t>
            </a:r>
            <a:br/>
            <a:r>
              <a:t>• Converts satellite fire counts into direct particulate mass influx (µg/m³).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3977639"/>
            <a:ext cx="5166360" cy="214884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1148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0B981"/>
                </a:solidFill>
              </a:defRPr>
            </a:pPr>
            <a:r>
              <a:t>4. COUPLED FORECASTER &amp; REAL-TIME ATTRIBUTION</a:t>
            </a:r>
          </a:p>
          <a:p>
            <a:pPr>
              <a:spcBef>
                <a:spcPts val="600"/>
              </a:spcBef>
              <a:defRPr b="1" sz="1300">
                <a:solidFill>
                  <a:srgbClr val="FFFFFF"/>
                </a:solidFill>
              </a:defRPr>
            </a:pPr>
            <a:r>
              <a:t>AQI(t+Δt) = F_phys(AQI_t, VI, K_trap, S_vector) ± 90% CI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</a:defRPr>
            </a:pPr>
            <a:r>
              <a:t>• Dynamic Source Apportionment: Vehicular (32%), Stubble (38%), Industrial (15%), Dust (15%).</a:t>
            </a:r>
            <a:br/>
            <a:r>
              <a:t>• Outputs calibrated 24h, 48h, and 72h continuous forecasts with uncertainty envelopes.</a:t>
            </a:r>
            <a:br/>
            <a:r>
              <a:t>• Direct trigger for CAQM rules.json to generate actionable municipal alerts.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00E5FF"/>
                </a:solidFill>
                <a:latin typeface="Calibri"/>
              </a:defRPr>
            </a:pPr>
            <a:r>
              <a:t>Slide 4 of 12  •  Production URL: https://vayucoupler.vercel.app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Calibri"/>
              </a:defRPr>
            </a:pPr>
            <a:r>
              <a:t>SIH26082 | END-TO-END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4-Tier Robust Pipeline: Ingestion, Physics, Decision &amp;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Designed for 100% offline hackathon demonstration resilience and frictionless cloud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960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E5FF"/>
                </a:solidFill>
              </a:defRPr>
            </a:pPr>
            <a:r>
              <a:t>LAYER 1: DATA INGESTION &amp; DUAL-MODE ADAPTER</a:t>
            </a:r>
          </a:p>
          <a:p>
            <a:pPr>
              <a:spcBef>
                <a:spcPts val="200"/>
              </a:spcBef>
              <a:defRPr sz="919">
                <a:solidFill>
                  <a:srgbClr val="E2E8F0"/>
                </a:solidFill>
              </a:defRPr>
            </a:pPr>
            <a:r>
              <a:t>• 16 CPCB Ground Stations (PM2.5, PM10, NO2, SO2, CO, O3) across Delhi NCR (Anand Vihar, IGI, Punjabi Bagh, etc.)</a:t>
            </a:r>
            <a:br/>
            <a:r>
              <a:t>• IMD High-Altitude Meteorology &amp; Eulerian WRF wind fields  • NASA FIRMS MODIS/VIIRS Satellite Fire Hotspots</a:t>
            </a:r>
            <a:br/>
            <a:r>
              <a:t>• Dual-Mode Adapter: Auto-switches between live telemetry and 168-Hour Synthetic Episode for 100% demo uptime.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10728655" cy="960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62072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A855F7"/>
                </a:solidFill>
              </a:defRPr>
            </a:pPr>
            <a:r>
              <a:t>LAYER 2: COUPLED PHYSICS &amp; ML ANALYTICS ENGINE</a:t>
            </a:r>
          </a:p>
          <a:p>
            <a:pPr>
              <a:spcBef>
                <a:spcPts val="200"/>
              </a:spcBef>
              <a:defRPr sz="919">
                <a:solidFill>
                  <a:srgbClr val="E2E8F0"/>
                </a:solidFill>
              </a:defRPr>
            </a:pPr>
            <a:r>
              <a:t>• Physics Ventilation Modulator calculates real-time Ventilation Index (VI) &amp; Inversion Trapping Factor (K_trap)</a:t>
            </a:r>
            <a:br/>
            <a:r>
              <a:t>• Stubble Plume Directional Vector Projection (NW 315° corridor)  • Dynamic Source Apportionment Engine</a:t>
            </a:r>
            <a:br/>
            <a:r>
              <a:t>• Coupled +24h, +48h, and +72h Forecaster with 90% empirical confidence bounds.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728655" cy="960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5072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59E0B"/>
                </a:solidFill>
              </a:defRPr>
            </a:pPr>
            <a:r>
              <a:t>LAYER 3: PREDICTIVE GRAP &amp; DISASTER DISPATCH ENGINE</a:t>
            </a:r>
          </a:p>
          <a:p>
            <a:pPr>
              <a:spcBef>
                <a:spcPts val="200"/>
              </a:spcBef>
              <a:defRPr sz="919">
                <a:solidFill>
                  <a:srgbClr val="E2E8F0"/>
                </a:solidFill>
              </a:defRPr>
            </a:pPr>
            <a:r>
              <a:t>• Automated Predictive GRAP Rules Engine (evaluates forecast curves against configurable rules.json matrix)</a:t>
            </a:r>
            <a:br/>
            <a:r>
              <a:t>• Multi-Agency Action Dispatcher generates role-specific payloads (Police, Agri, MCD, Schools, Health)</a:t>
            </a:r>
            <a:br/>
            <a:r>
              <a:t>• 'What-If' Counterfactual Policy Simulator for real-time Supreme Court &amp; CAQM scenario testing.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10728655" cy="960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48072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LAYER 4: CROSS-PLATFORM DELIVERY &amp; COMMAND CENTERS</a:t>
            </a:r>
          </a:p>
          <a:p>
            <a:pPr>
              <a:spcBef>
                <a:spcPts val="200"/>
              </a:spcBef>
              <a:defRPr sz="919">
                <a:solidFill>
                  <a:srgbClr val="E2E8F0"/>
                </a:solidFill>
              </a:defRPr>
            </a:pPr>
            <a:r>
              <a:t>• MoES Command Center Web App (Production on Vercel: https://vayucoupler.vercel.app)</a:t>
            </a:r>
            <a:br/>
            <a:r>
              <a:t>• Single-File Windows Desktop Offline Edition (zero setup, one-click evaluation for judges)</a:t>
            </a:r>
            <a:br/>
            <a:r>
              <a:t>• Native Android APK (field officer push dispatches)  • High-performance FastAPI Telemetry Backend.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00E5FF"/>
                </a:solidFill>
                <a:latin typeface="Calibri"/>
              </a:defRPr>
            </a:pPr>
            <a:r>
              <a:t>Slide 5 of 12  •  Production URL: https://vayucoupler.vercel.app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Calibri"/>
              </a:defRPr>
            </a:pPr>
            <a:r>
              <a:t>SIH26082 | COMPETITIVE ADVANTAGE &amp; 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Why VayuCoupler Outperforms Existing Platforms (SAFAR / CPCB)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Comparing legacy approaches against VayuCoupler's actionable disaster management framework.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9164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560320"/>
                <a:gridCol w="2560320"/>
                <a:gridCol w="3230575"/>
              </a:tblGrid>
              <a:tr h="613954">
                <a:tc>
                  <a:txBody>
                    <a:bodyPr/>
                    <a:lstStyle/>
                    <a:p>
                      <a:pPr algn="l">
                        <a:defRPr b="1" sz="1050">
                          <a:solidFill>
                            <a:srgbClr val="00E5FF"/>
                          </a:solidFill>
                          <a:latin typeface="Calibri"/>
                        </a:defRPr>
                      </a:pPr>
                      <a:r>
                        <a:t>CAPABILITY / FEATURE</a:t>
                      </a:r>
                    </a:p>
                  </a:txBody>
                  <a:tcPr>
                    <a:solidFill>
                      <a:srgbClr val="131D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050">
                          <a:solidFill>
                            <a:srgbClr val="00E5FF"/>
                          </a:solidFill>
                          <a:latin typeface="Calibri"/>
                        </a:defRPr>
                      </a:pPr>
                      <a:r>
                        <a:t>LEGACY CPCB DASHBOARD</a:t>
                      </a:r>
                    </a:p>
                  </a:txBody>
                  <a:tcPr>
                    <a:solidFill>
                      <a:srgbClr val="131D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050">
                          <a:solidFill>
                            <a:srgbClr val="00E5FF"/>
                          </a:solidFill>
                          <a:latin typeface="Calibri"/>
                        </a:defRPr>
                      </a:pPr>
                      <a:r>
                        <a:t>SAFAR (MoES / IITM)</a:t>
                      </a:r>
                    </a:p>
                  </a:txBody>
                  <a:tcPr>
                    <a:solidFill>
                      <a:srgbClr val="131D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050">
                          <a:solidFill>
                            <a:srgbClr val="00E5FF"/>
                          </a:solidFill>
                          <a:latin typeface="Calibri"/>
                        </a:defRPr>
                      </a:pPr>
                      <a:r>
                        <a:t>VAYUCOUPLER (ATOMX)</a:t>
                      </a:r>
                    </a:p>
                  </a:txBody>
                  <a:tcPr>
                    <a:solidFill>
                      <a:srgbClr val="131D3A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GRAP Execution Mode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100% Reactive (Stage III/IV after 48h spike)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Reactive Notification (Alerts after pollution)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PREDICTIVE GRAP (48h–72h Pre-emptive Action)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Meteorological Coupling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Zero (Only reports monitored AQI)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Basic statistical correlation / Eulerian WRF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EXPLICIT COUPLING (PBLH + Inversion + Wind Vector)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Stubble Fire Influx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Static manual reports / Delayed counts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AOD satellite estimations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REAL-TIME VECTOR PROJECTION (NW 315° dot-product)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Actionable Dispatch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None (Static public PDFs on website)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Advisory color codes for public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CLOSED-LOOP DISPATCH (Automated orders to 6 agencies)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Counterfactual 'What-If'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Not Available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Not Available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INTERACTIVE POLICY SIMULATOR (Test bans before enforcing)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Offline Resilience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Depends 100% on external servers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Cloud-only access</a:t>
                      </a:r>
                    </a:p>
                  </a:txBody>
                  <a:tcPr>
                    <a:solidFill>
                      <a:srgbClr val="0A112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100% OFFLINE READY (Self-contained Windows/Web runtime)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00E5FF"/>
                </a:solidFill>
                <a:latin typeface="Calibri"/>
              </a:defRPr>
            </a:pPr>
            <a:r>
              <a:t>Slide 6 of 12  •  Production URL: https://vayucoupler.vercel.app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Calibri"/>
              </a:defRPr>
            </a:pPr>
            <a:r>
              <a:t>SIH26082 | INTERACTIVE POLICY DECISION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'What-If' Counterfactual Simulator: Testing Curbs Before Enforcing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Empowering CAQM and MoES with empirical simulation to prevent both smog disasters and economic over-restriction.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438912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00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A855F7"/>
                </a:solidFill>
              </a:defRPr>
            </a:pPr>
            <a:r>
              <a:t>🎯 WHY POLICYMAKERS LOVE THIS FEATURE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• Eliminates Policy Guesswork: Authorities can dynamically slide policy interventions to preview resulting AQI curves.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• Stubble Suppression Slider (0% to 100%): Simulates aggressive in-situ bio-decomposer &amp; Happy Seeder deployments in Punjab.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• Heavy Commercial Vehicle Bypass (0% to 100%): Simulates diverting non-destined diesel trucks onto Eastern/Western Peripheral Expressways (EPE/WPE).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• Mechanized Hotspot Sweeping &amp; Misting (0% to 100%): Simulates municipal anti-smog gun saturation across Anand Vihar, Wazirpur, and Mundka.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• Supreme Court &amp; Inter-Ministerial Evidence: Provides empirical justification for pre-emptive orders.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645920"/>
            <a:ext cx="5166360" cy="438912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828800"/>
            <a:ext cx="4800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E5FF"/>
                </a:solidFill>
              </a:defRPr>
            </a:pPr>
            <a:r>
              <a:t>📊 CASE STUDY: AVERTING AN EMERGENCY SPIKE</a:t>
            </a:r>
          </a:p>
          <a:p>
            <a:pPr>
              <a:spcBef>
                <a:spcPts val="800"/>
              </a:spcBef>
              <a:defRPr b="1" sz="1100">
                <a:solidFill>
                  <a:srgbClr val="EF4444"/>
                </a:solidFill>
              </a:defRPr>
            </a:pPr>
            <a:r>
              <a:t>SCENARIO A: STATUS QUO (REACTIVE GRAP)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• Monitored AQI crosses 400 at T-0h; curbs enforced only at T+48h.</a:t>
            </a:r>
            <a:br/>
            <a:r>
              <a:t>• Result: Peak AQI reaches 485 (Severe+ Emergency). Schools shut abruptly, hospitals overwhelmed with asthma patients.</a:t>
            </a:r>
          </a:p>
          <a:p>
            <a:pPr>
              <a:spcBef>
                <a:spcPts val="1200"/>
              </a:spcBef>
              <a:defRPr b="1" sz="1100">
                <a:solidFill>
                  <a:srgbClr val="10B981"/>
                </a:solidFill>
              </a:defRPr>
            </a:pPr>
            <a:r>
              <a:t>SCENARIO B: VAYUCOUPLER PREDICTIVE INTERVENTION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• Model predicts 485 spike 48h prior due to PBLH collapse to 320m and NW wind shift.</a:t>
            </a:r>
            <a:br/>
            <a:r>
              <a:t>• Pre-emptive actions: 45% truck diversion + 40% stubble fire suppression.</a:t>
            </a:r>
            <a:br/>
            <a:r>
              <a:t>• Result: Peak AQI capped at 382 (Managed Category). Severe+ emergency averted completely!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00E5FF"/>
                </a:solidFill>
                <a:latin typeface="Calibri"/>
              </a:defRPr>
            </a:pPr>
            <a:r>
              <a:t>Slide 7 of 12  •  Production URL: https://vayucoupler.vercel.app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Calibri"/>
              </a:defRPr>
            </a:pPr>
            <a:r>
              <a:t>SIH26082 | OPERATIONAL DISASTER MANAGEMENT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Automated Multi-Agency Stakeholder Dispatch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Translating scientific forecasting into role-specific, legally binding executive work orders.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66360" cy="2103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59E0B"/>
                </a:solidFill>
              </a:defRPr>
            </a:pPr>
            <a:r>
              <a:t>AGRICULTURE DEPT (PUNJAB &amp; HARYANA)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Trigger: Stubble plume vector forecast &gt; 35 µg/m³ influx.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Action: Deploy 1,200+ Happy Seeders &amp; Super SMS machines to Sangrur &amp; Bathinda clusters 48h before wind shift.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Dispatch Payload: Geo-tagged fire hot-zones and direct subsidy team notification.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691640"/>
            <a:ext cx="5166360" cy="2103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7830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TRAFFIC POLICE &amp; HIGHWAYS (DELHI NCR / NHAI)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Trigger: Vehicular contribution forecast &gt; 120 AQI points with stagnant winds (&lt; 1.5 m/s).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Action: Pre-divert 15,000+ non-destined commercial diesel trucks to EPE/WPE bypasses.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Dispatch Payload: Automated toll-gate advisory &amp; digital variable messaging sign (VMS) activation.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66360" cy="2103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6907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E5FF"/>
                </a:solidFill>
              </a:defRPr>
            </a:pPr>
            <a:r>
              <a:t>MCD, NDMC &amp; DDA (MUNICIPAL CORPORATIONS)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Trigger: Boundary layer height &lt; 400m; local dust resuspension risk high.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Action: Continuous misting &amp; anti-smog gun deployment at 13 identified hotspots (Anand Vihar, Jahangirpuri).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Dispatch Payload: Targeted route map for 250+ mechanized sweeping vehicles.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3977639"/>
            <a:ext cx="5166360" cy="2103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406907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HEALTHCARE &amp; EDUCATION AUTHORITIES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Trigger: Severe+ AQI (450+) predicted for &gt; 24 hours.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Action: Transition primary schools to online classes 24h in advance; prepare hospital respiratory ICU beds.</a:t>
            </a:r>
          </a:p>
          <a:p>
            <a:pPr>
              <a:spcBef>
                <a:spcPts val="300"/>
              </a:spcBef>
              <a:defRPr sz="919">
                <a:solidFill>
                  <a:srgbClr val="E2E8F0"/>
                </a:solidFill>
              </a:defRPr>
            </a:pPr>
            <a:r>
              <a:t>• Dispatch Payload: Public health advisory push to Asha workers and civic health centers.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00E5FF"/>
                </a:solidFill>
                <a:latin typeface="Calibri"/>
              </a:defRPr>
            </a:pPr>
            <a:r>
              <a:t>Slide 8 of 12  •  Production URL: https://vayucoupler.vercel.app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Calibri"/>
              </a:defRPr>
            </a:pPr>
            <a:r>
              <a:t>SIH26082 | CROSS-PLATFORM ENGINEERING SUITE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Production-Ready Across Web, Windows Desktop, and Mobile Android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100% developed, tested, and live — not just a concept or presentation mockup.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0E5FF"/>
                </a:solidFill>
              </a:defRPr>
            </a:pPr>
            <a:r>
              <a:t>🌐 LIVE PRODUCTION WEB APP</a:t>
            </a:r>
          </a:p>
          <a:p>
            <a:pPr>
              <a:spcBef>
                <a:spcPts val="400"/>
              </a:spcBef>
              <a:defRPr b="1" sz="1000">
                <a:solidFill>
                  <a:srgbClr val="38BDF8"/>
                </a:solidFill>
              </a:defRPr>
            </a:pPr>
            <a:r>
              <a:t>https://vayucoupler.vercel.app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Hosted on Vercel Global Edge Network with continuous CI/CD deployment.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Live Particle Wind Streamlines animated over 16 Delhi NCR monitoring stations.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Interactive 7-Day Crisis Time Scrubber (T-72h to T+24h) for instant episode replay.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Predictive GRAP Decision Matrix &amp; live dispatches.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8576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0B981"/>
                </a:solidFill>
              </a:defRPr>
            </a:pPr>
            <a:r>
              <a:t>💻 WINDOWS DESKTOP OFFLINE EDITION</a:t>
            </a:r>
          </a:p>
          <a:p>
            <a:pPr>
              <a:spcBef>
                <a:spcPts val="400"/>
              </a:spcBef>
              <a:defRPr b="1" sz="1000">
                <a:solidFill>
                  <a:srgbClr val="38BDF8"/>
                </a:solidFill>
              </a:defRPr>
            </a:pPr>
            <a:r>
              <a:t>VayuCoupler_Windows_Offline_App.html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Zero-Installation Architecture: Double-click to open in Microsoft Edge or Chrome.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Self-Contained Offline Engine: Embedded synthetic episode generator &amp; physics simulator.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Guaranteed 100% Hackathon Demo Reliability without internet connection drop risks.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Full parity with the production web application.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59E0B"/>
                </a:solidFill>
              </a:defRPr>
            </a:pPr>
            <a:r>
              <a:t>📱 STANDALONE ANDROID APK</a:t>
            </a:r>
          </a:p>
          <a:p>
            <a:pPr>
              <a:spcBef>
                <a:spcPts val="400"/>
              </a:spcBef>
              <a:defRPr b="1" sz="1000">
                <a:solidFill>
                  <a:srgbClr val="38BDF8"/>
                </a:solidFill>
              </a:defRPr>
            </a:pPr>
            <a:r>
              <a:t>VayuCoupler.apk (5.4 MB)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Native Android APK packaged and ready for field officers and public inspection teams.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Push notifications for pre-emptive GRAP Stage transitions.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Offline caching for field inspectors visiting stubble fire hotspots in rural Punjab/Haryana.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Clean responsive touch UX optimized for all mobile screens.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00E5FF"/>
                </a:solidFill>
                <a:latin typeface="Calibri"/>
              </a:defRPr>
            </a:pPr>
            <a:r>
              <a:t>Slide 9 of 12  •  Production URL: https://vayucoupler.vercel.app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Calibri"/>
              </a:defRPr>
            </a:pPr>
            <a:r>
              <a:t>SIH26082 | REAL-WORLD IMPACT &amp; COST SAVINGS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Measurable Impact: Health, Economic &amp; Governance Dividends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How pre-emptive GRAP safeguards lives and millions of rupees in avoidable disruption.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17373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05409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E5FF"/>
                </a:solidFill>
              </a:defRPr>
            </a:pPr>
            <a:r>
              <a:t>48 to 72 HOURS</a:t>
            </a:r>
          </a:p>
          <a:p>
            <a:pPr>
              <a:spcBef>
                <a:spcPts val="200"/>
              </a:spcBef>
              <a:defRPr b="1" sz="1050">
                <a:solidFill>
                  <a:srgbClr val="FFFFFF"/>
                </a:solidFill>
              </a:defRPr>
            </a:pPr>
            <a:r>
              <a:t>ADVANCE ACTION LEAD TIME</a:t>
            </a:r>
          </a:p>
          <a:p>
            <a:pPr>
              <a:spcBef>
                <a:spcPts val="200"/>
              </a:spcBef>
              <a:defRPr sz="900">
                <a:solidFill>
                  <a:srgbClr val="E2E8F0"/>
                </a:solidFill>
              </a:defRPr>
            </a:pPr>
            <a:r>
              <a:t>Replaces sudden same-day school closures and emergency bans with structured 3-day readiness.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91640"/>
            <a:ext cx="3328416" cy="17373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2856" y="1783080"/>
            <a:ext cx="305409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10B981"/>
                </a:solidFill>
              </a:defRPr>
            </a:pPr>
            <a:r>
              <a:t>25% – 35% REDUCTION</a:t>
            </a:r>
          </a:p>
          <a:p>
            <a:pPr>
              <a:spcBef>
                <a:spcPts val="200"/>
              </a:spcBef>
              <a:defRPr b="1" sz="1050">
                <a:solidFill>
                  <a:srgbClr val="FFFFFF"/>
                </a:solidFill>
              </a:defRPr>
            </a:pPr>
            <a:r>
              <a:t>PEAK RESPIRATORY HOSPITALIZATIONS</a:t>
            </a:r>
          </a:p>
          <a:p>
            <a:pPr>
              <a:spcBef>
                <a:spcPts val="200"/>
              </a:spcBef>
              <a:defRPr sz="900">
                <a:solidFill>
                  <a:srgbClr val="E2E8F0"/>
                </a:solidFill>
              </a:defRPr>
            </a:pPr>
            <a:r>
              <a:t>Pre-empting extreme PM2.5 spikes (450+) protects vulnerable children, senior citizens, and asthma patients.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91640"/>
            <a:ext cx="3328416" cy="17373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1783080"/>
            <a:ext cx="305409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59E0B"/>
                </a:solidFill>
              </a:defRPr>
            </a:pPr>
            <a:r>
              <a:t>₹1,200+ CRORE</a:t>
            </a:r>
          </a:p>
          <a:p>
            <a:pPr>
              <a:spcBef>
                <a:spcPts val="200"/>
              </a:spcBef>
              <a:defRPr b="1" sz="1050">
                <a:solidFill>
                  <a:srgbClr val="FFFFFF"/>
                </a:solidFill>
              </a:defRPr>
            </a:pPr>
            <a:r>
              <a:t>ESTIMATED AVOIDED ECONOMIC LOSS</a:t>
            </a:r>
          </a:p>
          <a:p>
            <a:pPr>
              <a:spcBef>
                <a:spcPts val="200"/>
              </a:spcBef>
              <a:defRPr sz="900">
                <a:solidFill>
                  <a:srgbClr val="E2E8F0"/>
                </a:solidFill>
              </a:defRPr>
            </a:pPr>
            <a:r>
              <a:t>Prevents chaotic blanket factory shutdowns and stranded interstate freight fleets through managed pre-routing.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10728655" cy="237744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263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0E5FF"/>
                </a:solidFill>
              </a:defRPr>
            </a:pPr>
            <a:r>
              <a:t>TRIPLE-BOTTOM-LINE BENEFIT BREAKDOWN:</a:t>
            </a:r>
          </a:p>
          <a:p>
            <a:pPr>
              <a:spcBef>
                <a:spcPts val="300"/>
              </a:spcBef>
              <a:defRPr sz="980">
                <a:solidFill>
                  <a:srgbClr val="E2E8F0"/>
                </a:solidFill>
              </a:defRPr>
            </a:pPr>
            <a:r>
              <a:t>• Public Health: Prevents acute respiratory distress syndrome (ARDS), chronic bronchitis flare-ups, and cardiovascular emergencies caused by multi-day stagnation.</a:t>
            </a:r>
          </a:p>
          <a:p>
            <a:pPr>
              <a:spcBef>
                <a:spcPts val="300"/>
              </a:spcBef>
              <a:defRPr sz="980">
                <a:solidFill>
                  <a:srgbClr val="E2E8F0"/>
                </a:solidFill>
              </a:defRPr>
            </a:pPr>
            <a:r>
              <a:t>• Economic Stability: Construction projects can cure concrete and stabilize loose earth before halts; supply chain logistics reroute interstate trucks smoothly.</a:t>
            </a:r>
          </a:p>
          <a:p>
            <a:pPr>
              <a:spcBef>
                <a:spcPts val="300"/>
              </a:spcBef>
              <a:defRPr sz="980">
                <a:solidFill>
                  <a:srgbClr val="E2E8F0"/>
                </a:solidFill>
              </a:defRPr>
            </a:pPr>
            <a:r>
              <a:t>• Inter-State Governance: Eliminates toxic political finger-pointing between Delhi, Punjab, and Haryana by providing shared, mathematically indisputable source attribution data.</a:t>
            </a:r>
          </a:p>
          <a:p>
            <a:pPr>
              <a:spcBef>
                <a:spcPts val="300"/>
              </a:spcBef>
              <a:defRPr sz="980">
                <a:solidFill>
                  <a:srgbClr val="E2E8F0"/>
                </a:solidFill>
              </a:defRPr>
            </a:pPr>
            <a:r>
              <a:t>• Citizen Empowerment: Parents and outdoor workers receive transparent 3-day health forecasts rather than confusing post-facto pollution numbers.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00E5FF"/>
                </a:solidFill>
                <a:latin typeface="Calibri"/>
              </a:defRPr>
            </a:pPr>
            <a:r>
              <a:t>Slide 10 of 12  •  Production URL: https://vayucoupler.vercel.app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Calibri"/>
              </a:defRPr>
            </a:pPr>
            <a:r>
              <a:t>SIH26082 | DEPLOYMENT FEASIBILITY &amp;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Adoption Roadmap for MoES, CAQM &amp; National Clean Air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Architected for zero license lock-in, open-standards interoperability, and nationwide expansion.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2976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0E5FF"/>
                </a:solidFill>
              </a:defRPr>
            </a:pPr>
            <a:r>
              <a:t>PHASE 1: PILOT DEPLOYMENT</a:t>
            </a:r>
          </a:p>
          <a:p>
            <a:pPr>
              <a:defRPr b="1" sz="1000">
                <a:solidFill>
                  <a:srgbClr val="38BDF8"/>
                </a:solidFill>
              </a:defRPr>
            </a:pPr>
            <a:r>
              <a:t>Months 1–3  |  Delhi NCR Focus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Direct integration with CAQM decision support servers.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Ingestion from all 40 CPCB/DPCC monitoring stations in Delhi NCR.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Daily automated predictive GRAP briefings dispatched to Commission members.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Testing with Delhi Traffic Police &amp; Punjab Agriculture Dept.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91640"/>
            <a:ext cx="3328416" cy="42976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8576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59E0B"/>
                </a:solidFill>
              </a:defRPr>
            </a:pPr>
            <a:r>
              <a:t>PHASE 2: INDO-GANGETIC EXPANSION</a:t>
            </a:r>
          </a:p>
          <a:p>
            <a:pPr>
              <a:defRPr b="1" sz="1000">
                <a:solidFill>
                  <a:srgbClr val="38BDF8"/>
                </a:solidFill>
              </a:defRPr>
            </a:pPr>
            <a:r>
              <a:t>Months 4–8  |  Indo-Gangetic Plain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Scaling coupling algorithms to Kanpur, Lucknow, Patna, and Kolkata air sheds.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Automated ingestion of INSAT-3D Aerosol Optical Depth (AOD) satellite data.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Integration with Sentinel-5P TROPOMI trace gases (NO2, SO2) for industrial cluster tracing.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State Pollution Control Board (SPCB) multi-tenant dashboards.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91640"/>
            <a:ext cx="3328416" cy="42976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82880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0B981"/>
                </a:solidFill>
              </a:defRPr>
            </a:pPr>
            <a:r>
              <a:t>PHASE 3: NCAP FULL INTEGRATION</a:t>
            </a:r>
          </a:p>
          <a:p>
            <a:pPr>
              <a:defRPr b="1" sz="1000">
                <a:solidFill>
                  <a:srgbClr val="38BDF8"/>
                </a:solidFill>
              </a:defRPr>
            </a:pPr>
            <a:r>
              <a:t>Months 9–12  |  National Clean Air Programme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Direct 3km Eulerian WRF-Chem atmospheric chemistry coupling with IMD supercomputers.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Integration with Continuous Emission Monitoring Systems (CEMS) across 1,000+ industrial smokestacks.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National public early-warning app reaching 100M+ citizens across non-attainment cities.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</a:defRPr>
            </a:pPr>
            <a:r>
              <a:t>• Zero license dependencies; 100% open-source core stack.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00E5FF"/>
                </a:solidFill>
                <a:latin typeface="Calibri"/>
              </a:defRPr>
            </a:pPr>
            <a:r>
              <a:t>Slide 11 of 12  •  Production URL: https://vayucoupler.vercel.app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E5FF"/>
                </a:solidFill>
                <a:latin typeface="Calibri"/>
              </a:defRPr>
            </a:pPr>
            <a:r>
              <a:t>SIH26082 | SUMMARY &amp; JUDGE DEMONSTRATION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Team AtomX: Ready for Live Demonstration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Delivering India's first operational Weather–Pollution Coupled Predictive GRAP 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217920" cy="4389120"/>
          </a:xfrm>
          <a:prstGeom prst="roundRect">
            <a:avLst/>
          </a:prstGeom>
          <a:solidFill>
            <a:srgbClr val="131D3A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852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E5FF"/>
                </a:solidFill>
              </a:defRPr>
            </a:pPr>
            <a:r>
              <a:t>⏱️ 3-MINUTE JUDGE DEMONSTRATION SCRIPT</a:t>
            </a:r>
          </a:p>
          <a:p>
            <a:pPr>
              <a:spcBef>
                <a:spcPts val="500"/>
              </a:spcBef>
              <a:defRPr b="1" sz="950">
                <a:solidFill>
                  <a:srgbClr val="F59E0B"/>
                </a:solidFill>
              </a:defRPr>
            </a:pPr>
            <a:r>
              <a:t>Step 1 (0:00 - 0:45) — The 30-Second Elevator Pitch:</a:t>
            </a:r>
          </a:p>
          <a:p>
            <a:pPr>
              <a:spcBef>
                <a:spcPts val="100"/>
              </a:spcBef>
              <a:defRPr sz="900">
                <a:solidFill>
                  <a:srgbClr val="E2E8F0"/>
                </a:solidFill>
              </a:defRPr>
            </a:pPr>
            <a:r>
              <a:t>Show live dashboard at https://vayucoupler.vercel.app. Explain: 'Current GRAP reacts after 48h of smog; VayuCoupler couples meteorology and satellite stubble to predict spikes 48h in advance.'</a:t>
            </a:r>
          </a:p>
          <a:p>
            <a:pPr>
              <a:spcBef>
                <a:spcPts val="500"/>
              </a:spcBef>
              <a:defRPr b="1" sz="950">
                <a:solidFill>
                  <a:srgbClr val="F59E0B"/>
                </a:solidFill>
              </a:defRPr>
            </a:pPr>
            <a:r>
              <a:t>Step 2 (0:45 - 1:30) — 7-Day Crisis Time Scrubber:</a:t>
            </a:r>
          </a:p>
          <a:p>
            <a:pPr>
              <a:spcBef>
                <a:spcPts val="100"/>
              </a:spcBef>
              <a:defRPr sz="900">
                <a:solidFill>
                  <a:srgbClr val="E2E8F0"/>
                </a:solidFill>
              </a:defRPr>
            </a:pPr>
            <a:r>
              <a:t>Scrub to Day 3 (T-72h). Show monitored AQI is still Moderate (~210), but boundary layer collapses to 340m, forecasting Severe (480+) for T+48h.</a:t>
            </a:r>
          </a:p>
          <a:p>
            <a:pPr>
              <a:spcBef>
                <a:spcPts val="500"/>
              </a:spcBef>
              <a:defRPr b="1" sz="950">
                <a:solidFill>
                  <a:srgbClr val="F59E0B"/>
                </a:solidFill>
              </a:defRPr>
            </a:pPr>
            <a:r>
              <a:t>Step 3 (1:30 - 2:15) — Predictive GRAP &amp; Multi-Agency Dispatches:</a:t>
            </a:r>
          </a:p>
          <a:p>
            <a:pPr>
              <a:spcBef>
                <a:spcPts val="100"/>
              </a:spcBef>
              <a:defRPr sz="900">
                <a:solidFill>
                  <a:srgbClr val="E2E8F0"/>
                </a:solidFill>
              </a:defRPr>
            </a:pPr>
            <a:r>
              <a:t>Show how Stage III/IV curbs enter 'PRE-EMPTIVE TRIGGER' status 48h early. Inspect automated action payloads for Punjab Agri &amp; Delhi Police.</a:t>
            </a:r>
          </a:p>
          <a:p>
            <a:pPr>
              <a:spcBef>
                <a:spcPts val="500"/>
              </a:spcBef>
              <a:defRPr b="1" sz="950">
                <a:solidFill>
                  <a:srgbClr val="F59E0B"/>
                </a:solidFill>
              </a:defRPr>
            </a:pPr>
            <a:r>
              <a:t>Step 4 (2:15 - 3:00) — 'What-If' Counterfactual Simulator:</a:t>
            </a:r>
          </a:p>
          <a:p>
            <a:pPr>
              <a:spcBef>
                <a:spcPts val="100"/>
              </a:spcBef>
              <a:defRPr sz="900">
                <a:solidFill>
                  <a:srgbClr val="E2E8F0"/>
                </a:solidFill>
              </a:defRPr>
            </a:pPr>
            <a:r>
              <a:t>Move Stubble Reduction slider to 50% and Truck Diversion to 40%. Watch predicted peak AQI drop in real time from 485 (Emergency) down to 382 (Managed).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645920"/>
            <a:ext cx="4144975" cy="43891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377921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🔗 LIVE ARTIFACTS &amp; LINKS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Production Web App:</a:t>
            </a:r>
          </a:p>
          <a:p>
            <a:pPr>
              <a:defRPr sz="900">
                <a:solidFill>
                  <a:srgbClr val="38BDF8"/>
                </a:solidFill>
              </a:defRPr>
            </a:pPr>
            <a:r>
              <a:t>https://vayucoupler.vercel.app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GitHub Repository:</a:t>
            </a:r>
          </a:p>
          <a:p>
            <a:pPr>
              <a:defRPr sz="900">
                <a:solidFill>
                  <a:srgbClr val="38BDF8"/>
                </a:solidFill>
              </a:defRPr>
            </a:pPr>
            <a:r>
              <a:t>github.com/vivek-glitch15/VayuCoupler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Windows Desktop App:</a:t>
            </a:r>
          </a:p>
          <a:p>
            <a:pPr>
              <a:defRPr sz="900">
                <a:solidFill>
                  <a:srgbClr val="38BDF8"/>
                </a:solidFill>
              </a:defRPr>
            </a:pPr>
            <a:r>
              <a:t>Single-file offline HTML executive tool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Android Standalone APK:</a:t>
            </a:r>
          </a:p>
          <a:p>
            <a:pPr>
              <a:defRPr sz="900">
                <a:solidFill>
                  <a:srgbClr val="38BDF8"/>
                </a:solidFill>
              </a:defRPr>
            </a:pPr>
            <a:r>
              <a:t>VayuCoupler.apk (Ready on device)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FastAPI Telemetry Server:</a:t>
            </a:r>
          </a:p>
          <a:p>
            <a:pPr>
              <a:defRPr sz="900">
                <a:solidFill>
                  <a:srgbClr val="38BDF8"/>
                </a:solidFill>
              </a:defRPr>
            </a:pPr>
            <a:r>
              <a:t>Auto-documented Swagger /docs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Team Name:</a:t>
            </a:r>
          </a:p>
          <a:p>
            <a:pPr>
              <a:defRPr sz="900">
                <a:solidFill>
                  <a:srgbClr val="38BDF8"/>
                </a:solidFill>
              </a:defRPr>
            </a:pPr>
            <a:r>
              <a:t>AtomX (Smart India Hackathon 2026)</a:t>
            </a:r>
          </a:p>
          <a:p>
            <a:pPr>
              <a:spcBef>
                <a:spcPts val="1400"/>
              </a:spcBef>
              <a:defRPr b="1" sz="1050">
                <a:solidFill>
                  <a:srgbClr val="00E5FF"/>
                </a:solidFill>
              </a:defRPr>
            </a:pPr>
            <a:r>
              <a:t>Thank you, Esteemed Jury Members!</a:t>
            </a:r>
            <a:br/>
            <a:r>
              <a:t>Team AtomX is ready for Q&amp;A.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00E5FF"/>
                </a:solidFill>
                <a:latin typeface="Calibri"/>
              </a:defRPr>
            </a:pPr>
            <a:r>
              <a:t>Slide 12 of 12  •  Production URL: https://vayucoupler.vercel.app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