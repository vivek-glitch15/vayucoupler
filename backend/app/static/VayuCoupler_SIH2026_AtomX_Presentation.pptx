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66928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77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SMART INDIA HACKATHON 2026  |  OFFICIAL FINALS PITCH DECK  |  SOFTWARE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VAYUCOUPLER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Air Pollution–Weather Coupled Forecasting &amp; Predictive GRAP Decision Support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3108960" cy="1600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</a:defRPr>
            </a:pPr>
            <a:r>
              <a:t>PROBLEM STATEMENT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ID: SIH26082 (Software Edition)</a:t>
            </a:r>
            <a:br/>
            <a:r>
              <a:t>• Title: Air Pollution–Weather Coupled Forecasting (Delhi NCR Focus)</a:t>
            </a:r>
            <a:br/>
            <a:r>
              <a:t>• Ministry: Ministry of Earth Sciences (MoES)</a:t>
            </a:r>
            <a:br/>
            <a:r>
              <a:t>• Nodal Alignment: CAQM, CPCB, IMD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108960" cy="1600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CORE VALUE PROPOSITION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48h to 72h Pre-emptive Lead Time</a:t>
            </a:r>
            <a:br/>
            <a:r>
              <a:t>• Dynamic PBLH &amp; Inversion Coupling</a:t>
            </a:r>
            <a:br/>
            <a:r>
              <a:t>• NASA FIRMS Stubble Plume Vectoring</a:t>
            </a:r>
            <a:br/>
            <a:r>
              <a:t>• Closed-loop Multi-Agency Dispatch</a:t>
            </a:r>
            <a:br/>
            <a:r>
              <a:t>• 'What-If' Counterfactual Policy Simulator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651760"/>
            <a:ext cx="3383280" cy="1600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74320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PRODUCTION DEPLOYMENTS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Live Web: https://vayucoupler.vercel.app</a:t>
            </a:r>
            <a:br/>
            <a:r>
              <a:t>• GitHub: vivek-glitch15/VayuCoupler</a:t>
            </a:r>
            <a:br/>
            <a:r>
              <a:t>• Windows Offline Tool: Single-file executive client</a:t>
            </a:r>
            <a:br/>
            <a:r>
              <a:t>• Android Native APK: 5.4MB with offline caching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E5FF"/>
                </a:solidFill>
              </a:defRPr>
            </a:pPr>
            <a:r>
              <a:t>TEAM ATOMX COMPOSITION &amp; DOMAIN ROLES: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• Vivek Raj (Team Lead — Systems Architecture, Coupled Physics &amp; Geospatial Engine)   • Member 2 (PBLH &amp; Inversion Modeling)</a:t>
            </a:r>
            <a:br/>
            <a:r>
              <a:t>• Member 3 (Backend Telemetry &amp; Multi-Agency Dispatch Architecture)   • Member 4 (Geospatial UI/UX, Particle Wind Flow &amp; Visuals)</a:t>
            </a:r>
            <a:br/>
            <a:r>
              <a:t>• Member 5 (ML Forecaster &amp; Source Attribution Engine)   • Member 6 (Cross-Platform Mobile Android &amp; Windows Offline Packaging)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1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SIH26082 | CURRENT EMERGENCY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The Problem: Delhi's Smog Trap &amp; The Fatal Flaw of Reactive GRAP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Every winter, 30 million citizens choke because existing emergency systems enforce curbs only after the crisis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66344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F4444"/>
                </a:solidFill>
              </a:defRPr>
            </a:pPr>
            <a:r>
              <a:t>🚨 FATAL FLAW OF REACTIVE GRAP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Post-Facto Trigger Rule: CAQM/CPCB Stage III &amp; IV emergency curbs (halting construction, halting interstate trucks) are triggered ONLY AFTER ground stations record 'Severe' (400+) for 48 consecutive hours.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Zero Lead Time: By the time diesel trucks or construction are banned, the dense smog trap has already formed over Delhi.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Irreversible Health Harm: Children, asthmatics, and seniors inhale toxic particulate matter for 2 to 3 days before authorities react.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Economic Shock: Sudden overnight blanket bans leave daily-wage workers stranded without preventing the initial spike.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66344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🔬 DISCONNECTED METEOROLOGY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Trapping Crisis: Delhi's air crisis is fundamentally an atmospheric physics problem, not merely an emission issue.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Boundary Layer Compression: Planetary Boundary Layer Height (PBLH) collapses from 1,800m in daytime to under 350m at night.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Thermal Inversion Lid: Colder surface air trapped under warm aloft air prevents vertical dispersion (ΔT &gt; 4°C).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Legacy Black-Box Flaw: Existing models treat AQI as an isolated statistical curve, ignoring real-time atmospheric dynamics.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66344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🏛️ TRANS-BOUNDARY SILOS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Trans-Boundary Influx: 30% to 45% of peak winter PM2.5 in Delhi arrives via trans-boundary transport from Punjab &amp; Haryana stubble burning.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Inter-State Blame Game: Delhi declares red alert while upwind states continue burning due to lack of synchronized early warnings.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No 'What-If' Capability: Current portals display static graphs; policymakers cannot simulate policy impacts before enforcing curbs.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• No Role-Based Dispatch: Agencies receive generic PDFs instead of automated, legally binding executive work 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2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SIH26082 | SCIENTIFIC &amp; MATHEMATICAL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Our Solution: Predictive GRAP Grounded in Atmospheric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Zero black-box obscurity — coupling boundary layer compression with satellite fire telemetry for 48h–72h lead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2296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E5FF"/>
                </a:solidFill>
              </a:defRPr>
            </a:pPr>
            <a:r>
              <a:t>THE PARADIGM SHIFT: REACTIVE GRAP  ➜  PREDICTIVE GRAP (48h–72h LEAD TIME)</a:t>
            </a:r>
          </a:p>
          <a:p>
            <a:pPr>
              <a:spcBef>
                <a:spcPts val="100"/>
              </a:spcBef>
              <a:defRPr sz="1000">
                <a:solidFill>
                  <a:srgbClr val="FFFFFF"/>
                </a:solidFill>
              </a:defRPr>
            </a:pPr>
            <a:r>
              <a:t>Instead of waiting for stations to record 400+ AQI, VayuCoupler calculates boundary layer collapse and upwind stubble transport to trigger Stage II, III, and IV curbs 48 to 72 hours BEFORE the critical pollution peak arrives.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230368" cy="1874519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95604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E5FF"/>
                </a:solidFill>
              </a:defRPr>
            </a:pPr>
            <a:r>
              <a:t>1. VENTILATION INDEX (VI) — FLUSHING CAPACITY</a:t>
            </a:r>
          </a:p>
          <a:p>
            <a:pPr>
              <a:spcBef>
                <a:spcPts val="300"/>
              </a:spcBef>
              <a:defRPr b="1" sz="1200">
                <a:solidFill>
                  <a:srgbClr val="FFFFFF"/>
                </a:solidFill>
              </a:defRPr>
            </a:pPr>
            <a:r>
              <a:t>VI = Wind Speed (m/s)  ×  PBL Height (m)    [m²/s]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• VI &gt; 3,500 m²/s: High atmospheric dispersion; ground pollutants flush out rapidly.</a:t>
            </a:r>
            <a:br/>
            <a:r>
              <a:t>• VI &lt; 2,000 m²/s: Critical Trapping; Delhi basin behaves as an enclosed container.</a:t>
            </a:r>
            <a:br/>
            <a:r>
              <a:t>• Nighttime boundary layer collapse causes 3× to 5× pollutant concentration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2423160"/>
            <a:ext cx="5230368" cy="1874519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6967" y="2514600"/>
            <a:ext cx="495604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2. THERMAL INVERSION TRAPPING COEFFICIENT (K_trap)</a:t>
            </a:r>
          </a:p>
          <a:p>
            <a:pPr>
              <a:spcBef>
                <a:spcPts val="300"/>
              </a:spcBef>
              <a:defRPr b="1" sz="1150">
                <a:solidFill>
                  <a:srgbClr val="FFFFFF"/>
                </a:solidFill>
              </a:defRPr>
            </a:pPr>
            <a:r>
              <a:t>K_trap = 1.0 + 0.38(ΔT_inv) + 1.4 × max(0, (2500 - VI) / 2500)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• Quantifies the thermal 'atmospheric lid' formed over Delhi NCR on cold winter nights.</a:t>
            </a:r>
            <a:br/>
            <a:r>
              <a:t>• ΔT_inv: Temperature differential between 1,000m layer and surface.</a:t>
            </a:r>
            <a:br/>
            <a:r>
              <a:t>• When K_trap exceeds 2.2, standard emissions produce 'Severe+' emergency spikes.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70832"/>
            <a:ext cx="5230368" cy="1874519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62272"/>
            <a:ext cx="495604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3. UPWIND STUBBLE TRANSPORT VECTOR (S_vector)</a:t>
            </a:r>
          </a:p>
          <a:p>
            <a:pPr>
              <a:spcBef>
                <a:spcPts val="300"/>
              </a:spcBef>
              <a:defRPr b="1" sz="1150">
                <a:solidFill>
                  <a:srgbClr val="FFFFFF"/>
                </a:solidFill>
              </a:defRPr>
            </a:pPr>
            <a:r>
              <a:t>S_vector = FireCount × max(0, cos(θ_wind - 315°)) × (WS / 5.0)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• Directional dot product of wind angle with the NW stubble plume corridor (315°).</a:t>
            </a:r>
            <a:br/>
            <a:r>
              <a:t>• Only fires with aligned north-westerly wind vectors are transported into Delhi.</a:t>
            </a:r>
            <a:br/>
            <a:r>
              <a:t>• Directly computes trans-boundary mass influx (µg/m³) rather than static tallies.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9807" y="4370832"/>
            <a:ext cx="5230368" cy="1874519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967" y="4462272"/>
            <a:ext cx="495604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4. COUPLED FORECASTER &amp; SOURCE ATTRIBUTION</a:t>
            </a:r>
          </a:p>
          <a:p>
            <a:pPr>
              <a:spcBef>
                <a:spcPts val="300"/>
              </a:spcBef>
              <a:defRPr b="1" sz="1200">
                <a:solidFill>
                  <a:srgbClr val="FFFFFF"/>
                </a:solidFill>
              </a:defRPr>
            </a:pPr>
            <a:r>
              <a:t>AQI(t+Δt) = F_phys(AQI_t, VI, K_trap, S_vector) ± 90% CI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• Dynamic Source Apportionment: Stubble (38%), Vehicular (32%), Industry (15%), Dust (15%).</a:t>
            </a:r>
            <a:br/>
            <a:r>
              <a:t>• Outputs calibrated +24h, +48h, and +72h continuous predictions with uncertainty envelopes.</a:t>
            </a:r>
            <a:br/>
            <a:r>
              <a:t>• Directly triggers CAQM rules.json to generate automated, role-specific action tickets.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3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SIH26082 | ENGINEERING BLUEPRINT &amp;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End-to-End 4-Tier Pipeline: Ingestion to Multi-Platform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Engineered for 100% offline hackathon demonstration resilience and frictionless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E5FF"/>
                </a:solidFill>
              </a:defRPr>
            </a:pPr>
            <a:r>
              <a:t>LAYER 1: DATA INGESTION &amp; DUAL-MODE ADAPTER</a:t>
            </a:r>
          </a:p>
          <a:p>
            <a:pPr>
              <a:spcBef>
                <a:spcPts val="300"/>
              </a:spcBef>
              <a:defRPr sz="919">
                <a:solidFill>
                  <a:srgbClr val="E2E8F0"/>
                </a:solidFill>
              </a:defRPr>
            </a:pPr>
            <a:r>
              <a:t>• 16 CPCB Ground Stations (PM2.5, PM10, NO2, SO2, CO, O3) across Delhi NCR (Anand Vihar, IGI, Punjabi Bagh, etc.)</a:t>
            </a:r>
            <a:br/>
            <a:r>
              <a:t>• IMD High-Altitude Meteorology &amp; Eulerian WRF wind fields  • NASA FIRMS MODIS/VIIRS Satellite Fire Hotspots</a:t>
            </a:r>
            <a:br/>
            <a:r>
              <a:t>• Dual-Mode Adapter: Auto-switches between live REST telemetry and 168-Hour Synthetic Episode for 100% demo uptime.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52343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LAYER 2: COUPLED PHYSICS &amp; ML ANALYTICS ENGINE</a:t>
            </a:r>
          </a:p>
          <a:p>
            <a:pPr>
              <a:spcBef>
                <a:spcPts val="300"/>
              </a:spcBef>
              <a:defRPr sz="919">
                <a:solidFill>
                  <a:srgbClr val="E2E8F0"/>
                </a:solidFill>
              </a:defRPr>
            </a:pPr>
            <a:r>
              <a:t>• Physics Ventilation Modulator calculates real-time Ventilation Index (VI) &amp; Inversion Trapping Factor (K_trap)</a:t>
            </a:r>
            <a:br/>
            <a:r>
              <a:t>• Stubble Plume Directional Vector Projection (NW 315° corridor)  • Dynamic Source Apportionment Engine</a:t>
            </a:r>
            <a:br/>
            <a:r>
              <a:t>• Coupled +24h, +48h, and +72h Forecaster with 90% empirical confidence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9624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22776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LAYER 3: PREDICTIVE GRAP &amp; DISASTER DISPATCH ENGINE</a:t>
            </a:r>
          </a:p>
          <a:p>
            <a:pPr>
              <a:spcBef>
                <a:spcPts val="300"/>
              </a:spcBef>
              <a:defRPr sz="919">
                <a:solidFill>
                  <a:srgbClr val="E2E8F0"/>
                </a:solidFill>
              </a:defRPr>
            </a:pPr>
            <a:r>
              <a:t>• Automated Predictive GRAP Rules Engine (evaluates forecast curves against configurable rules.json matrix)</a:t>
            </a:r>
            <a:br/>
            <a:r>
              <a:t>• Multi-Agency Action Dispatcher generates role-specific payloads (Police, Agri, MCD, Schools, Hospitals)</a:t>
            </a:r>
            <a:br/>
            <a:r>
              <a:t>• 'What-If' Counterfactual Policy Simulator for real-time Supreme Court &amp; CAQM scenario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0056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93208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LAYER 4: CROSS-PLATFORM DELIVERY &amp; COMMAND CENTERS</a:t>
            </a:r>
          </a:p>
          <a:p>
            <a:pPr>
              <a:spcBef>
                <a:spcPts val="300"/>
              </a:spcBef>
              <a:defRPr sz="919">
                <a:solidFill>
                  <a:srgbClr val="E2E8F0"/>
                </a:solidFill>
              </a:defRPr>
            </a:pPr>
            <a:r>
              <a:t>• MoES Command Center Web App (Production on Vercel: https://vayucoupler.vercel.app)</a:t>
            </a:r>
            <a:br/>
            <a:r>
              <a:t>• Single-File Windows Desktop Offline Edition (zero setup, one-click evaluation for judges)</a:t>
            </a:r>
            <a:br/>
            <a:r>
              <a:t>• Native Android APK (5.4MB field inspection app with offline caching)  • High-performance FastAPI Telemetry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4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SIH26082 | COMPETITIVE SUPERIORITY &amp;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Comparison Matrix &amp; Interactive 'What-If' Policy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Proving technological superiority over SAFAR and empowering CAQM with empirical scenario testing.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5486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19456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3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LEGACY / SAFAR</a:t>
                      </a:r>
                    </a:p>
                  </a:txBody>
                  <a:tcPr>
                    <a:solidFill>
                      <a:srgbClr val="13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E5FF"/>
                          </a:solidFill>
                          <a:latin typeface="Calibri"/>
                        </a:defRPr>
                      </a:pPr>
                      <a:r>
                        <a:t>VAYUCOUPLER (ATOMX)</a:t>
                      </a:r>
                    </a:p>
                  </a:txBody>
                  <a:tcPr>
                    <a:solidFill>
                      <a:srgbClr val="131D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 Execution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Reactive (After 48h spike)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PREDICTIVE (48h–72h Lead Time)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Physics Coupling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Basic statistical / None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EXPLICIT (PBLH + Inversion + Vector)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Disaster Dispatch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Passive public PDF upload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AUTOMATED (6-Agency work orders)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 Simulation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INTERACTIVE 'WHAT-IF' SIMULATOR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Offline Resilience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Cloud-only dependency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OFFLINE (Windows &amp; Mobile APK)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508760"/>
            <a:ext cx="5059375" cy="466344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45920"/>
            <a:ext cx="472744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A855F7"/>
                </a:solidFill>
              </a:defRPr>
            </a:pPr>
            <a:r>
              <a:t>🎯 'WHAT-IF' COUNTERFACTUAL POLICY SIMULATOR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Allows CAQM and Supreme Court authorities to slide policy levers in real time to preview resulting AQI curves before enforcing disruptive emergency bans.</a:t>
            </a:r>
          </a:p>
          <a:p>
            <a:pPr>
              <a:spcBef>
                <a:spcPts val="800"/>
              </a:spcBef>
              <a:defRPr b="1" sz="1000">
                <a:solidFill>
                  <a:srgbClr val="EF4444"/>
                </a:solidFill>
              </a:defRPr>
            </a:pPr>
            <a:r>
              <a:t>SCENARIO A: STATUS QUO (REACTIVE GRAP)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Monitors reach 400 at T-0h; curbs enforced only at T+48h.</a:t>
            </a:r>
            <a:br/>
            <a:r>
              <a:t>• Result: Peak AQI reaches 485 (Severe+ Emergency). Schools shut abruptly, hospitals overrun with respiratory distress.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SCENARIO B: VAYUCOUPLER PREDICTIVE INTERVENTION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Model predicts 485 spike 48h prior due to PBLH collapse to 320m and NW wind shift.</a:t>
            </a:r>
            <a:br/>
            <a:r>
              <a:t>• Pre-emptive actions: 45% truck diversion + 40% stubble reduction.</a:t>
            </a:r>
            <a:br/>
            <a:r>
              <a:t>• Result: Peak AQI capped at 382 (Managed). Severe+ emergency averted completely!</a:t>
            </a:r>
          </a:p>
          <a:p>
            <a:pPr>
              <a:spcBef>
                <a:spcPts val="800"/>
              </a:spcBef>
              <a:defRPr b="1" sz="950">
                <a:solidFill>
                  <a:srgbClr val="00E5FF"/>
                </a:solidFill>
              </a:defRPr>
            </a:pPr>
            <a:r>
              <a:t>CLOSED-LOOP AUTOMATED DISPATCH: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Punjab Agri: Happy Seeders dispatched 48h early • Police: Trucks diverted to EPE/WPE • MCD: Anti-smog guns to Anand Vihar/Mundka • Health: Respiratory ICU prep.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5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SIH26082 | IMPACT, ROADMAP &amp; LIVE 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Measurable Impact, National Roadmap &amp; 3-Minute Demo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Delivering India's first operational Weather–Pollution Coupled Predictive GRAP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E5FF"/>
                </a:solidFill>
              </a:defRPr>
            </a:pPr>
            <a:r>
              <a:t>48 to 72 HOURS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ADVANCE ACTION LEAD TIME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Replaces sudden same-day school closures and emergency bans with structured 3-day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57276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25% – 35% REDUCTION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PEAK RESPIRATORY HOSPITALIZATIONS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Pre-empting extreme PM2.5 spikes (450+) protects vulnerable children, senior citizens, and asthma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13716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7276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59E0B"/>
                </a:solidFill>
              </a:defRPr>
            </a:pPr>
            <a:r>
              <a:t>₹1,200+ CRORE</a:t>
            </a:r>
          </a:p>
          <a:p>
            <a:pPr>
              <a:defRPr b="1" sz="950">
                <a:solidFill>
                  <a:srgbClr val="FFFFFF"/>
                </a:solidFill>
              </a:defRPr>
            </a:pPr>
            <a:r>
              <a:t>ESTIMATED AVOIDED ECONOMIC LOSS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Prevents chaotic blanket factory shutdowns and stranded interstate freight fleets through managed pre-routing.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166360" cy="315468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E5FF"/>
                </a:solidFill>
              </a:defRPr>
            </a:pPr>
            <a:r>
              <a:t>🏛️ SCALABILITY &amp; MOES ADOPTION ROADMAP</a:t>
            </a:r>
          </a:p>
          <a:p>
            <a:pPr>
              <a:spcBef>
                <a:spcPts val="400"/>
              </a:spcBef>
              <a:defRPr b="1" sz="880">
                <a:solidFill>
                  <a:srgbClr val="F59E0B"/>
                </a:solidFill>
              </a:defRPr>
            </a:pPr>
            <a:r>
              <a:t>Phase 1 (M 1–3) | Delhi NCR CAQM Pilot:</a:t>
            </a:r>
          </a:p>
          <a:p>
            <a:pPr>
              <a:defRPr sz="840">
                <a:solidFill>
                  <a:srgbClr val="E2E8F0"/>
                </a:solidFill>
              </a:defRPr>
            </a:pPr>
            <a:r>
              <a:t>Ingestion from all 40 CPCB CAAQMS stations + daily automated predictive GRAP briefings dispatched to Commission members.</a:t>
            </a:r>
          </a:p>
          <a:p>
            <a:pPr>
              <a:spcBef>
                <a:spcPts val="400"/>
              </a:spcBef>
              <a:defRPr b="1" sz="880">
                <a:solidFill>
                  <a:srgbClr val="F59E0B"/>
                </a:solidFill>
              </a:defRPr>
            </a:pPr>
            <a:r>
              <a:t>Phase 2 (M 4–8) | Indo-Gangetic Basin:</a:t>
            </a:r>
          </a:p>
          <a:p>
            <a:pPr>
              <a:defRPr sz="840">
                <a:solidFill>
                  <a:srgbClr val="E2E8F0"/>
                </a:solidFill>
              </a:defRPr>
            </a:pPr>
            <a:r>
              <a:t>Scaling models to Kanpur, Lucknow, Patna &amp; Kolkata air-sheds + INSAT-3D AOD &amp; Sentinel-5P TROPOMI satellite telemetry.</a:t>
            </a:r>
          </a:p>
          <a:p>
            <a:pPr>
              <a:spcBef>
                <a:spcPts val="400"/>
              </a:spcBef>
              <a:defRPr b="1" sz="880">
                <a:solidFill>
                  <a:srgbClr val="F59E0B"/>
                </a:solidFill>
              </a:defRPr>
            </a:pPr>
            <a:r>
              <a:t>Phase 3 (M 9–12) | Nationwide NCAP Integration:</a:t>
            </a:r>
          </a:p>
          <a:p>
            <a:pPr>
              <a:defRPr sz="840">
                <a:solidFill>
                  <a:srgbClr val="E2E8F0"/>
                </a:solidFill>
              </a:defRPr>
            </a:pPr>
            <a:r>
              <a:t>Direct coupling with IMD's 3km Eulerian WRF-Chem atmospheric models and CEMS at 1,000+ industrial smokestacks. Zero license lock-in.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3017520"/>
            <a:ext cx="5166360" cy="3154680"/>
          </a:xfrm>
          <a:prstGeom prst="roundRect">
            <a:avLst/>
          </a:prstGeom>
          <a:solidFill>
            <a:srgbClr val="131D3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1089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⏱️ 3-MINUTE JUDGE DEMO SCRIPT &amp; LIVE ARTIFACTS</a:t>
            </a:r>
          </a:p>
          <a:p>
            <a:pPr>
              <a:spcBef>
                <a:spcPts val="300"/>
              </a:spcBef>
              <a:defRPr sz="840">
                <a:solidFill>
                  <a:srgbClr val="E2E8F0"/>
                </a:solidFill>
              </a:defRPr>
            </a:pPr>
            <a:r>
              <a:t>0:00 - 0:45 | 30s Pitch: Open https://vayucoupler.vercel.app. Pitch: 'Current GRAP is reactive; VayuCoupler predicts spikes 48h early via meteorology coupling.'</a:t>
            </a:r>
          </a:p>
          <a:p>
            <a:pPr>
              <a:spcBef>
                <a:spcPts val="300"/>
              </a:spcBef>
              <a:defRPr sz="840">
                <a:solidFill>
                  <a:srgbClr val="E2E8F0"/>
                </a:solidFill>
              </a:defRPr>
            </a:pPr>
            <a:r>
              <a:t>0:45 - 1:30 | 7-Day Scrubber: Scrub to T-72h. Show monitored AQI is still Moderate (~210), but boundary layer collapses to 340m, forecasting 480+ for T+48h.</a:t>
            </a:r>
          </a:p>
          <a:p>
            <a:pPr>
              <a:spcBef>
                <a:spcPts val="300"/>
              </a:spcBef>
              <a:defRPr sz="840">
                <a:solidFill>
                  <a:srgbClr val="E2E8F0"/>
                </a:solidFill>
              </a:defRPr>
            </a:pPr>
            <a:r>
              <a:t>1:30 - 2:15 | Predictive GRAP: Show Stage III/IV in 'PRE-EMPTIVE TRIGGER' state. Inspect automated dispatch payloads for Punjab Agri &amp; Delhi Police.</a:t>
            </a:r>
          </a:p>
          <a:p>
            <a:pPr>
              <a:spcBef>
                <a:spcPts val="300"/>
              </a:spcBef>
              <a:defRPr sz="840">
                <a:solidFill>
                  <a:srgbClr val="E2E8F0"/>
                </a:solidFill>
              </a:defRPr>
            </a:pPr>
            <a:r>
              <a:t>2:15 - 3:00 | 'What-If' Testing: Move Stubble Reduction to 50% and Truck Diversion to 40%. Watch peak AQI drop from 485 to 382. Ready for Jury Q&amp;A!</a:t>
            </a:r>
          </a:p>
          <a:p>
            <a:pPr>
              <a:spcBef>
                <a:spcPts val="600"/>
              </a:spcBef>
              <a:defRPr b="1" sz="950">
                <a:solidFill>
                  <a:srgbClr val="00E5FF"/>
                </a:solidFill>
              </a:defRPr>
            </a:pPr>
            <a:r>
              <a:t>Team AtomX thanks the Jury! Live Web: https://vayucoupler.vercel.app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Calibri"/>
              </a:defRPr>
            </a:pPr>
            <a:r>
              <a:t>SMART INDIA HACKATHON 2026 | PS ID: SIH26082 | MoES | TEAM ATOMX: VAYUCOUPLER</a:t>
            </a:r>
          </a:p>
          <a:p>
            <a:pPr algn="r">
              <a:defRPr sz="850">
                <a:solidFill>
                  <a:srgbClr val="00E5FF"/>
                </a:solidFill>
                <a:latin typeface="Calibri"/>
              </a:defRPr>
            </a:pPr>
            <a:r>
              <a:t>Page 6 of 6  •  Production: https://vayucoupler.vercel.app  •  GitHub: vivek-glitch15/VayuCoupler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