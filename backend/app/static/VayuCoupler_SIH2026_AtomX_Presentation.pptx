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548640"/>
            <a:ext cx="10728655" cy="5669280"/>
          </a:xfrm>
          <a:prstGeom prst="roundRect">
            <a:avLst/>
          </a:prstGeom>
          <a:solidFill>
            <a:srgbClr val="131513"/>
          </a:solidFill>
          <a:ln w="15240">
            <a:solidFill>
              <a:srgbClr val="8FFF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777240"/>
            <a:ext cx="9966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8FFFB0"/>
                </a:solidFill>
                <a:latin typeface="Calibri"/>
              </a:defRPr>
            </a:pPr>
            <a:r>
              <a:t>SMART INDIA HACKATHON 2026  |  OFFICIAL FINALS PITCH DECK  |  SOFTWARE TRACK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143000"/>
            <a:ext cx="99669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  <a:latin typeface="Calibri"/>
              </a:defRPr>
            </a:pPr>
            <a:r>
              <a:t>VAYUCOUPLER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2011680"/>
            <a:ext cx="9966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7FD4FF"/>
                </a:solidFill>
                <a:latin typeface="Calibri"/>
              </a:defRPr>
            </a:pPr>
            <a:r>
              <a:t>Next-Generation Air Pollution–Weather Coupled Atmospheric Cockpit (Delhi-NCR Focus)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2651760"/>
            <a:ext cx="3108960" cy="1600200"/>
          </a:xfrm>
          <a:prstGeom prst="roundRect">
            <a:avLst/>
          </a:prstGeom>
          <a:solidFill>
            <a:srgbClr val="191C19"/>
          </a:solidFill>
          <a:ln w="15240">
            <a:solidFill>
              <a:srgbClr val="262A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2743200"/>
            <a:ext cx="28346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00">
                <a:solidFill>
                  <a:srgbClr val="00E5FF"/>
                </a:solidFill>
              </a:defRPr>
            </a:pPr>
            <a:r>
              <a:t>PROBLEM STATEMENT</a:t>
            </a:r>
          </a:p>
          <a:p>
            <a:pPr>
              <a:defRPr sz="950">
                <a:solidFill>
                  <a:srgbClr val="EEF0EC"/>
                </a:solidFill>
              </a:defRPr>
            </a:pPr>
            <a:r>
              <a:t>• ID: SIH26082 (Software Edition)</a:t>
            </a:r>
            <a:br/>
            <a:r>
              <a:t>• Title: Air Pollution–Weather Coupled Forecasting System (Delhi NCR Focus)</a:t>
            </a:r>
            <a:br/>
            <a:r>
              <a:t>• Ministry: Ministry of Earth Sciences (MoES)</a:t>
            </a:r>
            <a:br/>
            <a:r>
              <a:t>• Nodal Stakeholders: CAQM, CPCB, IMD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2651760"/>
            <a:ext cx="3108960" cy="1600200"/>
          </a:xfrm>
          <a:prstGeom prst="roundRect">
            <a:avLst/>
          </a:prstGeom>
          <a:solidFill>
            <a:srgbClr val="191C19"/>
          </a:solidFill>
          <a:ln w="15240">
            <a:solidFill>
              <a:srgbClr val="262A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2743200"/>
            <a:ext cx="283464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00">
                <a:solidFill>
                  <a:srgbClr val="FFE270"/>
                </a:solidFill>
              </a:defRPr>
            </a:pPr>
            <a:r>
              <a:t>CORE FRONT-FACING PILLARS</a:t>
            </a:r>
          </a:p>
          <a:p>
            <a:pPr>
              <a:defRPr sz="950">
                <a:solidFill>
                  <a:srgbClr val="EEF0EC"/>
                </a:solidFill>
              </a:defRPr>
            </a:pPr>
            <a:r>
              <a:t>• Atmospheric Home Cockpit &amp; Ambient Halo</a:t>
            </a:r>
            <a:br/>
            <a:r>
              <a:t>• Google Weather-Style Microclimate Engine</a:t>
            </a:r>
            <a:br/>
            <a:r>
              <a:t>• 40+ Station Interactive GIS Spatial Map</a:t>
            </a:r>
            <a:br/>
            <a:r>
              <a:t>• Safe Commute Cleanest-Route Navigator</a:t>
            </a:r>
            <a:br/>
            <a:r>
              <a:t>• Conversational VayuAI Atmospheric Copilot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0" y="2651760"/>
            <a:ext cx="3383280" cy="1600200"/>
          </a:xfrm>
          <a:prstGeom prst="roundRect">
            <a:avLst/>
          </a:prstGeom>
          <a:solidFill>
            <a:srgbClr val="191C19"/>
          </a:solidFill>
          <a:ln w="15240">
            <a:solidFill>
              <a:srgbClr val="262A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18120" y="2743200"/>
            <a:ext cx="3108960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00">
                <a:solidFill>
                  <a:srgbClr val="8FFFB0"/>
                </a:solidFill>
              </a:defRPr>
            </a:pPr>
            <a:r>
              <a:t>PRODUCTION DEPLOYMENTS</a:t>
            </a:r>
          </a:p>
          <a:p>
            <a:pPr>
              <a:defRPr sz="950">
                <a:solidFill>
                  <a:srgbClr val="EEF0EC"/>
                </a:solidFill>
              </a:defRPr>
            </a:pPr>
            <a:r>
              <a:t>• Live Web Cockpit: https://vayucoupler.vercel.app</a:t>
            </a:r>
            <a:br/>
            <a:r>
              <a:t>• GitHub: vivek-glitch15/VayuCoupler</a:t>
            </a:r>
            <a:br/>
            <a:r>
              <a:t>• Windows Offline Tool: Single-file executive client</a:t>
            </a:r>
            <a:br/>
            <a:r>
              <a:t>• Standalone Mobile App: Phone-first UI &amp; offline caching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389120"/>
            <a:ext cx="99669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50">
                <a:solidFill>
                  <a:srgbClr val="8FFFB0"/>
                </a:solidFill>
              </a:defRPr>
            </a:pPr>
            <a:r>
              <a:t>TEAM ATOMX COMPOSITION &amp; DOMAIN ROLES:</a:t>
            </a:r>
          </a:p>
          <a:p>
            <a:pPr>
              <a:spcBef>
                <a:spcPts val="400"/>
              </a:spcBef>
              <a:defRPr sz="950">
                <a:solidFill>
                  <a:srgbClr val="EEF0EC"/>
                </a:solidFill>
              </a:defRPr>
            </a:pPr>
            <a:r>
              <a:t>• Vivek Raj (Team Lead — Systems Architecture, Atmospheric Coupling &amp; Cockpit Design)   • Member 2 (Google Weather Engine &amp; Microclimate Physics)</a:t>
            </a:r>
            <a:br/>
            <a:r>
              <a:t>• Member 3 (Safe Commute Exposure Routing &amp; Geospatial GIS Engine)   • Member 4 (Ambient Halo UI/UX &amp; Responsive Front-End Systems)</a:t>
            </a:r>
            <a:br/>
            <a:r>
              <a:t>• Member 5 (VayuAI LLM Grounding &amp; Environmental Data Pipeline)   • Member 6 (Windows Standalone Offline Packaging &amp; Mobile Architecture)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327648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8C948B"/>
                </a:solidFill>
                <a:latin typeface="Calibri"/>
              </a:defRPr>
            </a:pPr>
            <a:r>
              <a:t>SMART INDIA HACKATHON 2026 | PS ID: SIH26082 | MoES | TEAM ATOMX: VAYUCOUPLER</a:t>
            </a:r>
          </a:p>
          <a:p>
            <a:pPr algn="r">
              <a:defRPr sz="850">
                <a:solidFill>
                  <a:srgbClr val="8FFFB0"/>
                </a:solidFill>
                <a:latin typeface="Calibri"/>
              </a:defRPr>
            </a:pPr>
            <a:r>
              <a:t>Page 1 of 6  •  Production: https://vayucoupler.vercel.app  •  GitHub: vivek-glitch15/VayuCoupler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8FFFB0"/>
                </a:solidFill>
                <a:latin typeface="Calibri"/>
              </a:defRPr>
            </a:pPr>
            <a:r>
              <a:t>SIH26082 | ENVIRONMENTAL EMERGENCY &amp; INTERFACE GAP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Calibri"/>
              </a:defRPr>
            </a:pPr>
            <a:r>
              <a:t>The Challenge: Complex Atmospheric Data vs. Citizen Usability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24712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8C948B"/>
                </a:solidFill>
                <a:latin typeface="Calibri"/>
              </a:defRPr>
            </a:pPr>
            <a:r>
              <a:t>Solving Delhi-NCR's air quality crisis requires replacing cluttered legacy portals with an intuitive, action-driven front cockpit.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328416" cy="4663440"/>
          </a:xfrm>
          <a:prstGeom prst="roundRect">
            <a:avLst/>
          </a:prstGeom>
          <a:solidFill>
            <a:srgbClr val="131513"/>
          </a:solidFill>
          <a:ln w="1524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296265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EF4444"/>
                </a:solidFill>
              </a:defRPr>
            </a:pPr>
            <a:r>
              <a:t>🚨 FLAWS OF LEGACY AIR PORTALS</a:t>
            </a:r>
          </a:p>
          <a:p>
            <a:pPr>
              <a:spcBef>
                <a:spcPts val="600"/>
              </a:spcBef>
              <a:defRPr sz="950">
                <a:solidFill>
                  <a:srgbClr val="EEF0EC"/>
                </a:solidFill>
              </a:defRPr>
            </a:pPr>
            <a:r>
              <a:t>• Disconnected Meteorology: Citizens &amp; officials check AQI on one app and weather on another, missing the direct physical link between wind/humidity and smog trapping.</a:t>
            </a:r>
          </a:p>
          <a:p>
            <a:pPr>
              <a:spcBef>
                <a:spcPts val="600"/>
              </a:spcBef>
              <a:defRPr sz="950">
                <a:solidFill>
                  <a:srgbClr val="EEF0EC"/>
                </a:solidFill>
              </a:defRPr>
            </a:pPr>
            <a:r>
              <a:t>• Inactionable Data Dumps: Existing portals display complex, static PDF tables and technical jargon that non-specialists cannot parse in an emergency.</a:t>
            </a:r>
          </a:p>
          <a:p>
            <a:pPr>
              <a:spcBef>
                <a:spcPts val="600"/>
              </a:spcBef>
              <a:defRPr sz="950">
                <a:solidFill>
                  <a:srgbClr val="EEF0EC"/>
                </a:solidFill>
              </a:defRPr>
            </a:pPr>
            <a:r>
              <a:t>• Passive Exposure Maps: Legacy maps place static red dots on stations without offering any practical guidance on how to avoid inhaling toxic particulate matter.</a:t>
            </a:r>
          </a:p>
          <a:p>
            <a:pPr>
              <a:spcBef>
                <a:spcPts val="600"/>
              </a:spcBef>
              <a:defRPr sz="950">
                <a:solidFill>
                  <a:srgbClr val="EEF0EC"/>
                </a:solidFill>
              </a:defRPr>
            </a:pPr>
            <a:r>
              <a:t>• Zero Conversational Access: Ordinary citizens have no way to ask everyday questions like 'Is it safe for a morning run?' without deciphering raw PM2.5 values.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25696" y="1508760"/>
            <a:ext cx="3328416" cy="4663440"/>
          </a:xfrm>
          <a:prstGeom prst="roundRect">
            <a:avLst/>
          </a:prstGeom>
          <a:solidFill>
            <a:srgbClr val="131513"/>
          </a:solidFill>
          <a:ln w="15240">
            <a:solidFill>
              <a:srgbClr val="FFE2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08576" y="1645920"/>
            <a:ext cx="296265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FFE270"/>
                </a:solidFill>
              </a:defRPr>
            </a:pPr>
            <a:r>
              <a:t>💡 THE UNIFIED ATMOSPHERIC COCKPIT</a:t>
            </a:r>
          </a:p>
          <a:p>
            <a:pPr>
              <a:spcBef>
                <a:spcPts val="600"/>
              </a:spcBef>
              <a:defRPr sz="950">
                <a:solidFill>
                  <a:srgbClr val="EEF0EC"/>
                </a:solidFill>
              </a:defRPr>
            </a:pPr>
            <a:r>
              <a:t>• Phone-First Modern Design: Built with fluid responsive layouts, natural glassmorphism, and a luminous dark command-center aesthetic (#0A0B0A).</a:t>
            </a:r>
          </a:p>
          <a:p>
            <a:pPr>
              <a:spcBef>
                <a:spcPts val="600"/>
              </a:spcBef>
              <a:defRPr sz="950">
                <a:solidFill>
                  <a:srgbClr val="EEF0EC"/>
                </a:solidFill>
              </a:defRPr>
            </a:pPr>
            <a:r>
              <a:t>• Ambient Halo AQI Visualizer: Instant situational clarity via dynamic glowing radial halo rings that pulse in category-specific HSL tones.</a:t>
            </a:r>
          </a:p>
          <a:p>
            <a:pPr>
              <a:spcBef>
                <a:spcPts val="600"/>
              </a:spcBef>
              <a:defRPr sz="950">
                <a:solidFill>
                  <a:srgbClr val="EEF0EC"/>
                </a:solidFill>
              </a:defRPr>
            </a:pPr>
            <a:r>
              <a:t>• Deep Meteorological Coupling: Full Google Weather-style atmospheric engine directly embedded beside air quality telemetry.</a:t>
            </a:r>
          </a:p>
          <a:p>
            <a:pPr>
              <a:spcBef>
                <a:spcPts val="600"/>
              </a:spcBef>
              <a:defRPr sz="950">
                <a:solidFill>
                  <a:srgbClr val="EEF0EC"/>
                </a:solidFill>
              </a:defRPr>
            </a:pPr>
            <a:r>
              <a:t>• Active Exposure Reduction: Shifts the paradigm from passive monitoring to actionable personal protection with Clean-Path Commute routing.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19872" y="1508760"/>
            <a:ext cx="3328416" cy="4663440"/>
          </a:xfrm>
          <a:prstGeom prst="roundRect">
            <a:avLst/>
          </a:prstGeom>
          <a:solidFill>
            <a:srgbClr val="131513"/>
          </a:solidFill>
          <a:ln w="15240">
            <a:solidFill>
              <a:srgbClr val="8FFF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02752" y="1645920"/>
            <a:ext cx="2962656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8FFFB0"/>
                </a:solidFill>
              </a:defRPr>
            </a:pPr>
            <a:r>
              <a:t>📱 5 CORE FRONT-FACING PILLARS</a:t>
            </a:r>
          </a:p>
          <a:p>
            <a:pPr>
              <a:spcBef>
                <a:spcPts val="600"/>
              </a:spcBef>
              <a:defRPr sz="950">
                <a:solidFill>
                  <a:srgbClr val="EEF0EC"/>
                </a:solidFill>
              </a:defRPr>
            </a:pPr>
            <a:r>
              <a:t>• 1. 🏠 Home Cockpit: Huge live AQI, ambient halo ring, nearest station indicator, dynamic health advisory &amp; 3-Day Forecast strip.</a:t>
            </a:r>
          </a:p>
          <a:p>
            <a:pPr>
              <a:spcBef>
                <a:spcPts val="600"/>
              </a:spcBef>
              <a:defRPr sz="950">
                <a:solidFill>
                  <a:srgbClr val="EEF0EC"/>
                </a:solidFill>
              </a:defRPr>
            </a:pPr>
            <a:r>
              <a:t>• 2. 🌤️ Weather Engine: Real-time temp (°C/°F), conditions, 4 microclimate cards (Rain %, Wind km/h, Humidity %, UV), 8-day outlook &amp; hourly scrubber.</a:t>
            </a:r>
          </a:p>
          <a:p>
            <a:pPr>
              <a:spcBef>
                <a:spcPts val="600"/>
              </a:spcBef>
              <a:defRPr sz="950">
                <a:solidFill>
                  <a:srgbClr val="EEF0EC"/>
                </a:solidFill>
              </a:defRPr>
            </a:pPr>
            <a:r>
              <a:t>• 3. 🗺️ Map &amp; Data: Interactive 40+ station GIS grid with 6-pollutant telemetry (PM2.5, PM10, NO2, SO2, CO, O3) and spatial heatmap.</a:t>
            </a:r>
          </a:p>
          <a:p>
            <a:pPr>
              <a:spcBef>
                <a:spcPts val="600"/>
              </a:spcBef>
              <a:defRPr sz="950">
                <a:solidFill>
                  <a:srgbClr val="EEF0EC"/>
                </a:solidFill>
              </a:defRPr>
            </a:pPr>
            <a:r>
              <a:t>• 4. 🧭 Safe Commute: Intelligent route finder comparing Fastest vs. Cleanest path, cutting toxic inhaled dosage by 35%–48%.</a:t>
            </a:r>
          </a:p>
          <a:p>
            <a:pPr>
              <a:spcBef>
                <a:spcPts val="600"/>
              </a:spcBef>
              <a:defRPr sz="950">
                <a:solidFill>
                  <a:srgbClr val="EEF0EC"/>
                </a:solidFill>
              </a:defRPr>
            </a:pPr>
            <a:r>
              <a:t>• 5. 🤖 VayuAI Assistant: Domain-grounded conversational copilot for instant natural language health and activity decisions.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27648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8C948B"/>
                </a:solidFill>
                <a:latin typeface="Calibri"/>
              </a:defRPr>
            </a:pPr>
            <a:r>
              <a:t>SMART INDIA HACKATHON 2026 | PS ID: SIH26082 | MoES | TEAM ATOMX: VAYUCOUPLER</a:t>
            </a:r>
          </a:p>
          <a:p>
            <a:pPr algn="r">
              <a:defRPr sz="850">
                <a:solidFill>
                  <a:srgbClr val="8FFFB0"/>
                </a:solidFill>
                <a:latin typeface="Calibri"/>
              </a:defRPr>
            </a:pPr>
            <a:r>
              <a:t>Page 2 of 6  •  Production: https://vayucoupler.vercel.app  •  GitHub: vivek-glitch15/VayuCoupler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8FFFB0"/>
                </a:solidFill>
                <a:latin typeface="Calibri"/>
              </a:defRPr>
            </a:pPr>
            <a:r>
              <a:t>SIH26082 | CORE FRONT INTERFACE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Calibri"/>
              </a:defRPr>
            </a:pPr>
            <a:r>
              <a:t>Front Pillar 1 &amp; 2: Atmospheric Home Cockpit &amp; Live Weather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24712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8C948B"/>
                </a:solidFill>
                <a:latin typeface="Calibri"/>
              </a:defRPr>
            </a:pPr>
            <a:r>
              <a:t>Instant ambient visual clarity combined with Google Weather-style atmospheric microclimate dynamics.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230368" cy="4663440"/>
          </a:xfrm>
          <a:prstGeom prst="roundRect">
            <a:avLst/>
          </a:prstGeom>
          <a:solidFill>
            <a:srgbClr val="191C19"/>
          </a:solidFill>
          <a:ln w="15240">
            <a:solidFill>
              <a:srgbClr val="8FFF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4864608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8FFFB0"/>
                </a:solidFill>
              </a:defRPr>
            </a:pPr>
            <a:r>
              <a:t>🏠 PILLAR 1: ATMOSPHERIC HOME COCKPIT</a:t>
            </a:r>
          </a:p>
          <a:p>
            <a:pPr>
              <a:spcBef>
                <a:spcPts val="600"/>
              </a:spcBef>
              <a:defRPr b="1" sz="950">
                <a:solidFill>
                  <a:srgbClr val="FFFFFF"/>
                </a:solidFill>
              </a:defRPr>
            </a:pPr>
            <a:r>
              <a:t>• Atmospheric Ambient Halo AQI Meter:</a:t>
            </a:r>
          </a:p>
          <a:p>
            <a:pPr>
              <a:defRPr sz="900">
                <a:solidFill>
                  <a:srgbClr val="EEF0EC"/>
                </a:solidFill>
              </a:defRPr>
            </a:pPr>
            <a:r>
              <a:t>   A massive live AQI reading (e.g., 157 Moderate / 312 Very Poor) enveloped by glowing multi-ring radial halos pulsing in real-time color tiers (Green, Blue, Yellow, Orange, Red, Severe Maroon).</a:t>
            </a:r>
          </a:p>
          <a:p>
            <a:pPr>
              <a:spcBef>
                <a:spcPts val="600"/>
              </a:spcBef>
              <a:defRPr b="1" sz="950">
                <a:solidFill>
                  <a:srgbClr val="FFFFFF"/>
                </a:solidFill>
              </a:defRPr>
            </a:pPr>
            <a:r>
              <a:t>• Live Monitoring Station Selector:</a:t>
            </a:r>
          </a:p>
          <a:p>
            <a:pPr>
              <a:defRPr sz="900">
                <a:solidFill>
                  <a:srgbClr val="EEF0EC"/>
                </a:solidFill>
              </a:defRPr>
            </a:pPr>
            <a:r>
              <a:t>   Instant one-tap modal to switch between 40+ DPCC &amp; CPCB CAAQMS stations (Punjabi Bagh, Anand Vihar, IGI T3, RK Puram) with GPS proximity auto-detection.</a:t>
            </a:r>
          </a:p>
          <a:p>
            <a:pPr>
              <a:spcBef>
                <a:spcPts val="600"/>
              </a:spcBef>
              <a:defRPr b="1" sz="950">
                <a:solidFill>
                  <a:srgbClr val="FFFFFF"/>
                </a:solidFill>
              </a:defRPr>
            </a:pPr>
            <a:r>
              <a:t>• Categorical Severity Pill &amp; Actionable Advisory:</a:t>
            </a:r>
          </a:p>
          <a:p>
            <a:pPr>
              <a:defRPr sz="900">
                <a:solidFill>
                  <a:srgbClr val="EEF0EC"/>
                </a:solidFill>
              </a:defRPr>
            </a:pPr>
            <a:r>
              <a:t>   Dynamic color-coded status badge paired with clear, single-line medical and outdoor guidance tailored to the active station's exposure tier.</a:t>
            </a:r>
          </a:p>
          <a:p>
            <a:pPr>
              <a:spcBef>
                <a:spcPts val="600"/>
              </a:spcBef>
              <a:defRPr b="1" sz="950">
                <a:solidFill>
                  <a:srgbClr val="FFFFFF"/>
                </a:solidFill>
              </a:defRPr>
            </a:pPr>
            <a:r>
              <a:t>• Coupled 3-Day Forecast Strip:</a:t>
            </a:r>
          </a:p>
          <a:p>
            <a:pPr>
              <a:defRPr sz="900">
                <a:solidFill>
                  <a:srgbClr val="EEF0EC"/>
                </a:solidFill>
              </a:defRPr>
            </a:pPr>
            <a:r>
              <a:t>   Continuous 72-hour air quality forecast cards displaying Tomorrow (+24h), Day After (+48h), and Day 3 (+72h) projections with categorical tags and atmospheric trend indicators.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9807" y="1508760"/>
            <a:ext cx="5230368" cy="4663440"/>
          </a:xfrm>
          <a:prstGeom prst="roundRect">
            <a:avLst/>
          </a:prstGeom>
          <a:solidFill>
            <a:srgbClr val="191C19"/>
          </a:solidFill>
          <a:ln w="15240">
            <a:solidFill>
              <a:srgbClr val="FFE2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12687" y="1645920"/>
            <a:ext cx="4864608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FFE270"/>
                </a:solidFill>
              </a:defRPr>
            </a:pPr>
            <a:r>
              <a:t>🌤️ PILLAR 2: GOOGLE WEATHER-STYLE LIVE ENGINE</a:t>
            </a:r>
          </a:p>
          <a:p>
            <a:pPr>
              <a:spcBef>
                <a:spcPts val="600"/>
              </a:spcBef>
              <a:defRPr b="1" sz="950">
                <a:solidFill>
                  <a:srgbClr val="FFFFFF"/>
                </a:solidFill>
              </a:defRPr>
            </a:pPr>
            <a:r>
              <a:t>• Real-Time Microclimate Telemetry:</a:t>
            </a:r>
          </a:p>
          <a:p>
            <a:pPr>
              <a:defRPr sz="900">
                <a:solidFill>
                  <a:srgbClr val="EEF0EC"/>
                </a:solidFill>
              </a:defRPr>
            </a:pPr>
            <a:r>
              <a:t>   Large current temperature display with instant °C / °F toggle, live sky condition ('Partly Cloudy', 'Haze/Smog'), 'Feels Like' index, and daily High/Low extremes.</a:t>
            </a:r>
          </a:p>
          <a:p>
            <a:pPr>
              <a:spcBef>
                <a:spcPts val="600"/>
              </a:spcBef>
              <a:defRPr b="1" sz="950">
                <a:solidFill>
                  <a:srgbClr val="FFFFFF"/>
                </a:solidFill>
              </a:defRPr>
            </a:pPr>
            <a:r>
              <a:t>• 4 Key Atmospheric Dispersion Drivers:</a:t>
            </a:r>
          </a:p>
          <a:p>
            <a:pPr>
              <a:defRPr sz="900">
                <a:solidFill>
                  <a:srgbClr val="EEF0EC"/>
                </a:solidFill>
              </a:defRPr>
            </a:pPr>
            <a:r>
              <a:t>   Four real-time metric cards critical for air quality dispersion:</a:t>
            </a:r>
            <a:br/>
            <a:r>
              <a:t>   💧 Rain Chance (%): Direct particulate washout probability.</a:t>
            </a:r>
            <a:br/>
            <a:r>
              <a:t>   🍃 Wind Speed &amp; Direction (km/h): Horizontal ventilation capacity.</a:t>
            </a:r>
            <a:br/>
            <a:r>
              <a:t>   🌫️ Relative Humidity (%): Secondary aerosol nucleation rate.</a:t>
            </a:r>
            <a:br/>
            <a:r>
              <a:t>   ☀️ UV Index &amp; Dew Point: Photochemical smog reaction drivers.</a:t>
            </a:r>
          </a:p>
          <a:p>
            <a:pPr>
              <a:spcBef>
                <a:spcPts val="600"/>
              </a:spcBef>
              <a:defRPr b="1" sz="950">
                <a:solidFill>
                  <a:srgbClr val="FFFFFF"/>
                </a:solidFill>
              </a:defRPr>
            </a:pPr>
            <a:r>
              <a:t>• 8-Day Extended Weather Outlook:</a:t>
            </a:r>
          </a:p>
          <a:p>
            <a:pPr>
              <a:defRPr sz="900">
                <a:solidFill>
                  <a:srgbClr val="EEF0EC"/>
                </a:solidFill>
              </a:defRPr>
            </a:pPr>
            <a:r>
              <a:t>   Day-by-day temperature range bars, sky condition icons, and atmospheric stability projections.</a:t>
            </a:r>
          </a:p>
          <a:p>
            <a:pPr>
              <a:spcBef>
                <a:spcPts val="600"/>
              </a:spcBef>
              <a:defRPr b="1" sz="950">
                <a:solidFill>
                  <a:srgbClr val="FFFFFF"/>
                </a:solidFill>
              </a:defRPr>
            </a:pPr>
            <a:r>
              <a:t>• 24-Hour Interactive Hourly Scrubber:</a:t>
            </a:r>
          </a:p>
          <a:p>
            <a:pPr>
              <a:defRPr sz="900">
                <a:solidFill>
                  <a:srgbClr val="EEF0EC"/>
                </a:solidFill>
              </a:defRPr>
            </a:pPr>
            <a:r>
              <a:t>   Hourly timeline tracking temperature curves, wind vectors, and night-time surface boundary stagnation.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27648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8C948B"/>
                </a:solidFill>
                <a:latin typeface="Calibri"/>
              </a:defRPr>
            </a:pPr>
            <a:r>
              <a:t>SMART INDIA HACKATHON 2026 | PS ID: SIH26082 | MoES | TEAM ATOMX: VAYUCOUPLER</a:t>
            </a:r>
          </a:p>
          <a:p>
            <a:pPr algn="r">
              <a:defRPr sz="850">
                <a:solidFill>
                  <a:srgbClr val="8FFFB0"/>
                </a:solidFill>
                <a:latin typeface="Calibri"/>
              </a:defRPr>
            </a:pPr>
            <a:r>
              <a:t>Page 3 of 6  •  Production: https://vayucoupler.vercel.app  •  GitHub: vivek-glitch15/VayuCoupler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8FFFB0"/>
                </a:solidFill>
                <a:latin typeface="Calibri"/>
              </a:defRPr>
            </a:pPr>
            <a:r>
              <a:t>SIH26082 | GEOSPATIAL TELEMETRY &amp; SENSOR NETWORK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Calibri"/>
              </a:defRPr>
            </a:pPr>
            <a:r>
              <a:t>Front Pillar 3: Interactive Delhi-NCR Spatial GIS Map &amp; Sensor Grid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24712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8C948B"/>
                </a:solidFill>
                <a:latin typeface="Calibri"/>
              </a:defRPr>
            </a:pPr>
            <a:r>
              <a:t>Comprehensive real-time spatial coverage across 40+ CAAQMS monitoring stations with multi-pollutant telemetry.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230368" cy="2240280"/>
          </a:xfrm>
          <a:prstGeom prst="roundRect">
            <a:avLst/>
          </a:prstGeom>
          <a:solidFill>
            <a:srgbClr val="191C19"/>
          </a:solidFill>
          <a:ln w="1524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4956048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0E5FF"/>
                </a:solidFill>
              </a:defRPr>
            </a:pPr>
            <a:r>
              <a:t>1. 40+ STATION DELHI-NCR MONITORING GRID</a:t>
            </a:r>
          </a:p>
          <a:p>
            <a:pPr>
              <a:spcBef>
                <a:spcPts val="400"/>
              </a:spcBef>
              <a:defRPr sz="900">
                <a:solidFill>
                  <a:srgbClr val="EEF0EC"/>
                </a:solidFill>
              </a:defRPr>
            </a:pPr>
            <a:r>
              <a:t>• Dense spatial coverage spanning Delhi, Noida, Gurugram, Ghaziabad &amp; Faridabad.</a:t>
            </a:r>
            <a:br/>
            <a:r>
              <a:t>• Covers key hotspot stations: Anand Vihar, Punjabi Bagh, Mandir Marg, IGI Airport, Mundka, Wazirpur, Okhla, RK Puram.</a:t>
            </a:r>
            <a:br/>
            <a:r>
              <a:t>• GPS Proximity Detection automatically locates and highlights the nearest active monitoring sensor with distance in kilometers.</a:t>
            </a:r>
            <a:br/>
            <a:r>
              <a:t>• High-performance Leaflet GIS rendering optimized for fluid mobile touch gestures.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9807" y="1508760"/>
            <a:ext cx="5230368" cy="2240280"/>
          </a:xfrm>
          <a:prstGeom prst="roundRect">
            <a:avLst/>
          </a:prstGeom>
          <a:solidFill>
            <a:srgbClr val="191C19"/>
          </a:solidFill>
          <a:ln w="15240">
            <a:solidFill>
              <a:srgbClr val="8FFF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66967" y="1600200"/>
            <a:ext cx="4956048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8FFFB0"/>
                </a:solidFill>
              </a:defRPr>
            </a:pPr>
            <a:r>
              <a:t>2. COLOR-CODED SPATIAL HEATMAP &amp; HOTSPOTS</a:t>
            </a:r>
          </a:p>
          <a:p>
            <a:pPr>
              <a:spcBef>
                <a:spcPts val="400"/>
              </a:spcBef>
              <a:defRPr sz="900">
                <a:solidFill>
                  <a:srgbClr val="EEF0EC"/>
                </a:solidFill>
              </a:defRPr>
            </a:pPr>
            <a:r>
              <a:t>• Standardized National AQI Color Spectrum:</a:t>
            </a:r>
            <a:br/>
            <a:r>
              <a:t>   🟢 Good (0–50)  |  🔵 Satisfactory (51–100)  |  🟡 Moderate (101–200)</a:t>
            </a:r>
            <a:br/>
            <a:r>
              <a:t>   🟠 Poor (201–300)  |  🔴 Very Poor (301–400)  |  🟣 Severe (401–500+)</a:t>
            </a:r>
            <a:br/>
            <a:r>
              <a:t>• Dynamic hotspot detection: Pulsating visual halos immediately highlight localized smog traps like Anand Vihar and Mundka.</a:t>
            </a:r>
            <a:br/>
            <a:r>
              <a:t>• Live regional air quality distribution visible in one glance.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977639"/>
            <a:ext cx="5230368" cy="2240280"/>
          </a:xfrm>
          <a:prstGeom prst="roundRect">
            <a:avLst/>
          </a:prstGeom>
          <a:solidFill>
            <a:srgbClr val="191C19"/>
          </a:solidFill>
          <a:ln w="15240">
            <a:solidFill>
              <a:srgbClr val="FF9D7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069080"/>
            <a:ext cx="4956048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FF9D7F"/>
                </a:solidFill>
              </a:defRPr>
            </a:pPr>
            <a:r>
              <a:t>3. 6 MULTI-POLLUTANT LIVE TELEMETRY</a:t>
            </a:r>
          </a:p>
          <a:p>
            <a:pPr>
              <a:spcBef>
                <a:spcPts val="400"/>
              </a:spcBef>
              <a:defRPr sz="900">
                <a:solidFill>
                  <a:srgbClr val="EEF0EC"/>
                </a:solidFill>
              </a:defRPr>
            </a:pPr>
            <a:r>
              <a:t>• Continuous sensor streams for all 6 major air pollutants:</a:t>
            </a:r>
            <a:br/>
            <a:r>
              <a:t>   • PM2.5 &amp; PM10 (Fine &amp; respirable particulate matter in µg/m³)</a:t>
            </a:r>
            <a:br/>
            <a:r>
              <a:t>   • NO2 (Vehicular exhaust &amp; industrial combustion)</a:t>
            </a:r>
            <a:br/>
            <a:r>
              <a:t>   • SO2 (Thermal power generation &amp; heavy fuel burning)</a:t>
            </a:r>
            <a:br/>
            <a:r>
              <a:t>   • CO (Carbon monoxide incomplete combustion) &amp; O3 (Ground-level ozone)</a:t>
            </a:r>
            <a:br/>
            <a:r>
              <a:t>• Station inspection popup cards showing sensor timestamps and dominant pollutant.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29807" y="3977639"/>
            <a:ext cx="5230368" cy="2240280"/>
          </a:xfrm>
          <a:prstGeom prst="roundRect">
            <a:avLst/>
          </a:prstGeom>
          <a:solidFill>
            <a:srgbClr val="191C19"/>
          </a:solidFill>
          <a:ln w="15240">
            <a:solidFill>
              <a:srgbClr val="7F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6967" y="4069080"/>
            <a:ext cx="4956048" cy="2057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7FD4FF"/>
                </a:solidFill>
              </a:defRPr>
            </a:pPr>
            <a:r>
              <a:t>4. ZERO-DEPENDENCY DUAL-MODE ARCHITECTURE</a:t>
            </a:r>
          </a:p>
          <a:p>
            <a:pPr>
              <a:spcBef>
                <a:spcPts val="400"/>
              </a:spcBef>
              <a:defRPr sz="900">
                <a:solidFill>
                  <a:srgbClr val="EEF0EC"/>
                </a:solidFill>
              </a:defRPr>
            </a:pPr>
            <a:r>
              <a:t>• Cloud Live Mode: Seamlessly streams real-time data from CPCB &amp; DPCC continuous ambient stations.</a:t>
            </a:r>
            <a:br/>
            <a:r>
              <a:t>• Offline Demonstration Fallback: Auto-switches to local 168-Hour cached episode if cloud connectivity drops during hackathon jury evaluation.</a:t>
            </a:r>
            <a:br/>
            <a:r>
              <a:t>• 100% Guaranteed Uptime: Never shows a blank error screen or broken map during presentations.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327648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8C948B"/>
                </a:solidFill>
                <a:latin typeface="Calibri"/>
              </a:defRPr>
            </a:pPr>
            <a:r>
              <a:t>SMART INDIA HACKATHON 2026 | PS ID: SIH26082 | MoES | TEAM ATOMX: VAYUCOUPLER</a:t>
            </a:r>
          </a:p>
          <a:p>
            <a:pPr algn="r">
              <a:defRPr sz="850">
                <a:solidFill>
                  <a:srgbClr val="8FFFB0"/>
                </a:solidFill>
                <a:latin typeface="Calibri"/>
              </a:defRPr>
            </a:pPr>
            <a:r>
              <a:t>Page 4 of 6  •  Production: https://vayucoupler.vercel.app  •  GitHub: vivek-glitch15/VayuCoupler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8FFFB0"/>
                </a:solidFill>
                <a:latin typeface="Calibri"/>
              </a:defRPr>
            </a:pPr>
            <a:r>
              <a:t>SIH26082 | ACTIVE EXPOSURE MINIMIZATION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Calibri"/>
              </a:defRPr>
            </a:pPr>
            <a:r>
              <a:t>Front Pillar 4: Safe Commute Route Finder — Inhalation Dosage Reduction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24712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8C948B"/>
                </a:solidFill>
                <a:latin typeface="Calibri"/>
              </a:defRPr>
            </a:pPr>
            <a:r>
              <a:t>Transforming passive monitoring into active personal protection: Intelligent A-to-B routing that cuts toxic inhaled particulate dosage by 35%–48%.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230368" cy="4663440"/>
          </a:xfrm>
          <a:prstGeom prst="roundRect">
            <a:avLst/>
          </a:prstGeom>
          <a:solidFill>
            <a:srgbClr val="191C19"/>
          </a:solidFill>
          <a:ln w="15240">
            <a:solidFill>
              <a:srgbClr val="8FFF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4864608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8FFFB0"/>
                </a:solidFill>
              </a:defRPr>
            </a:pPr>
            <a:r>
              <a:t>🧭 CLEANEST ROUTE VS. FASTEST ROUTE</a:t>
            </a:r>
          </a:p>
          <a:p>
            <a:pPr>
              <a:spcBef>
                <a:spcPts val="600"/>
              </a:spcBef>
              <a:defRPr b="1" sz="950">
                <a:solidFill>
                  <a:srgbClr val="FFFFFF"/>
                </a:solidFill>
              </a:defRPr>
            </a:pPr>
            <a:r>
              <a:t>• A-to-B Spatial Waypoint Navigator:</a:t>
            </a:r>
          </a:p>
          <a:p>
            <a:pPr>
              <a:defRPr sz="900">
                <a:solidFill>
                  <a:srgbClr val="EEF0EC"/>
                </a:solidFill>
              </a:defRPr>
            </a:pPr>
            <a:r>
              <a:t>   Commuters input start and destination points across Delhi-NCR (e.g., Punjabi Bagh to Cyber City Gurugram, Connaught Place to Noida Sector 62).</a:t>
            </a:r>
          </a:p>
          <a:p>
            <a:pPr>
              <a:spcBef>
                <a:spcPts val="600"/>
              </a:spcBef>
              <a:defRPr b="1" sz="950">
                <a:solidFill>
                  <a:srgbClr val="FFFFFF"/>
                </a:solidFill>
              </a:defRPr>
            </a:pPr>
            <a:r>
              <a:t>• Cumulative Toxic Inhalation Model:</a:t>
            </a:r>
          </a:p>
          <a:p>
            <a:pPr>
              <a:defRPr sz="900">
                <a:solidFill>
                  <a:srgbClr val="EEF0EC"/>
                </a:solidFill>
              </a:defRPr>
            </a:pPr>
            <a:r>
              <a:t>   Standard navigation minimizes time (t). VayuCoupler minimizes inhaled particulate dosage:</a:t>
            </a:r>
            <a:br/>
            <a:r>
              <a:t>   Inhaled Dosage = ∫ [ PM2.5_concentration(x,y,t) × Duration × Respiration_Rate ] dt</a:t>
            </a:r>
          </a:p>
          <a:p>
            <a:pPr>
              <a:spcBef>
                <a:spcPts val="600"/>
              </a:spcBef>
              <a:defRPr b="1" sz="950">
                <a:solidFill>
                  <a:srgbClr val="FFFFFF"/>
                </a:solidFill>
              </a:defRPr>
            </a:pPr>
            <a:r>
              <a:t>• 35% to 48% Toxic Particulate Reduction:</a:t>
            </a:r>
          </a:p>
          <a:p>
            <a:pPr>
              <a:defRPr sz="900">
                <a:solidFill>
                  <a:srgbClr val="EEF0EC"/>
                </a:solidFill>
              </a:defRPr>
            </a:pPr>
            <a:r>
              <a:t>   By routing commuters through ventilated green bypasses and avoiding high-emission congestion bottlenecks, the Cleanest Route saves 35%–48% inhaled PM2.5 with only a 4–8 minute transit trade-off.</a:t>
            </a:r>
          </a:p>
          <a:p>
            <a:pPr>
              <a:spcBef>
                <a:spcPts val="600"/>
              </a:spcBef>
              <a:defRPr b="1" sz="950">
                <a:solidFill>
                  <a:srgbClr val="FFFFFF"/>
                </a:solidFill>
              </a:defRPr>
            </a:pPr>
            <a:r>
              <a:t>• Side-by-Side Live Comparison:</a:t>
            </a:r>
          </a:p>
          <a:p>
            <a:pPr>
              <a:defRPr sz="900">
                <a:solidFill>
                  <a:srgbClr val="EEF0EC"/>
                </a:solidFill>
              </a:defRPr>
            </a:pPr>
            <a:r>
              <a:t>   Presents instant side-by-side metrics: Travel distance (km), estimated time (mins), and total micrograms (µg) of toxic PM2.5 avoided.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29807" y="1508760"/>
            <a:ext cx="5230368" cy="4663440"/>
          </a:xfrm>
          <a:prstGeom prst="roundRect">
            <a:avLst/>
          </a:prstGeom>
          <a:solidFill>
            <a:srgbClr val="191C19"/>
          </a:solidFill>
          <a:ln w="15240">
            <a:solidFill>
              <a:srgbClr val="7FD4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12687" y="1645920"/>
            <a:ext cx="4864608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7FD4FF"/>
                </a:solidFill>
              </a:defRPr>
            </a:pPr>
            <a:r>
              <a:t>🚇 MULTI-MODAL COMMUTE GUIDANCE</a:t>
            </a:r>
          </a:p>
          <a:p>
            <a:pPr>
              <a:spcBef>
                <a:spcPts val="600"/>
              </a:spcBef>
              <a:defRPr b="1" sz="950">
                <a:solidFill>
                  <a:srgbClr val="FFFFFF"/>
                </a:solidFill>
              </a:defRPr>
            </a:pPr>
            <a:r>
              <a:t>• Delhi Metro (Optimal Clean Air Mode):</a:t>
            </a:r>
          </a:p>
          <a:p>
            <a:pPr>
              <a:defRPr sz="900">
                <a:solidFill>
                  <a:srgbClr val="EEF0EC"/>
                </a:solidFill>
              </a:defRPr>
            </a:pPr>
            <a:r>
              <a:t>   Recommends underground metro transit where station filtration systems lower particulate exposure by &gt;65% compared to surface road traffic.</a:t>
            </a:r>
          </a:p>
          <a:p>
            <a:pPr>
              <a:spcBef>
                <a:spcPts val="600"/>
              </a:spcBef>
              <a:defRPr b="1" sz="950">
                <a:solidFill>
                  <a:srgbClr val="FFFFFF"/>
                </a:solidFill>
              </a:defRPr>
            </a:pPr>
            <a:r>
              <a:t>• AC Car with Cabin Air Recirculation:</a:t>
            </a:r>
          </a:p>
          <a:p>
            <a:pPr>
              <a:defRPr sz="900">
                <a:solidFill>
                  <a:srgbClr val="EEF0EC"/>
                </a:solidFill>
              </a:defRPr>
            </a:pPr>
            <a:r>
              <a:t>   Advises commuters traveling by automobile to keep windows closed and enable internal air recirculation when crossing Severe hotspot corridors.</a:t>
            </a:r>
          </a:p>
          <a:p>
            <a:pPr>
              <a:spcBef>
                <a:spcPts val="600"/>
              </a:spcBef>
              <a:defRPr b="1" sz="950">
                <a:solidFill>
                  <a:srgbClr val="FFFFFF"/>
                </a:solidFill>
              </a:defRPr>
            </a:pPr>
            <a:r>
              <a:t>• Two-Wheeler &amp; Pedestrian High-Risk Alert:</a:t>
            </a:r>
          </a:p>
          <a:p>
            <a:pPr>
              <a:defRPr sz="900">
                <a:solidFill>
                  <a:srgbClr val="EEF0EC"/>
                </a:solidFill>
              </a:defRPr>
            </a:pPr>
            <a:r>
              <a:t>   Flags severe exposure risks for motorcyclists, cyclists, and pedestrians; triggers mandatory N95 mask recommendation.</a:t>
            </a:r>
          </a:p>
          <a:p>
            <a:pPr>
              <a:spcBef>
                <a:spcPts val="600"/>
              </a:spcBef>
              <a:defRPr b="1" sz="950">
                <a:solidFill>
                  <a:srgbClr val="FFFFFF"/>
                </a:solidFill>
              </a:defRPr>
            </a:pPr>
            <a:r>
              <a:t>• Optimal Departure Window Optimizer:</a:t>
            </a:r>
          </a:p>
          <a:p>
            <a:pPr>
              <a:defRPr sz="900">
                <a:solidFill>
                  <a:srgbClr val="EEF0EC"/>
                </a:solidFill>
              </a:defRPr>
            </a:pPr>
            <a:r>
              <a:t>   Recommends leaving 30–45 minutes earlier or later to avoid peak thermal inversion hours when stagnant morning smog is trapped at ground level.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27648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8C948B"/>
                </a:solidFill>
                <a:latin typeface="Calibri"/>
              </a:defRPr>
            </a:pPr>
            <a:r>
              <a:t>SMART INDIA HACKATHON 2026 | PS ID: SIH26082 | MoES | TEAM ATOMX: VAYUCOUPLER</a:t>
            </a:r>
          </a:p>
          <a:p>
            <a:pPr algn="r">
              <a:defRPr sz="850">
                <a:solidFill>
                  <a:srgbClr val="8FFFB0"/>
                </a:solidFill>
                <a:latin typeface="Calibri"/>
              </a:defRPr>
            </a:pPr>
            <a:r>
              <a:t>Page 5 of 6  •  Production: https://vayucoupler.vercel.app  •  GitHub: vivek-glitch15/VayuCoupler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B0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8FFFB0"/>
                </a:solidFill>
                <a:latin typeface="Calibri"/>
              </a:defRPr>
            </a:pPr>
            <a:r>
              <a:t>SIH26082 | CONVERSATIONAL AI &amp; LIVE DEMO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21792"/>
            <a:ext cx="10698480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100" b="1">
                <a:solidFill>
                  <a:srgbClr val="FFFFFF"/>
                </a:solidFill>
                <a:latin typeface="Calibri"/>
              </a:defRPr>
            </a:pPr>
            <a:r>
              <a:t>Front Pillar 5: VayuAI Assistant, Production Deployments &amp; Jury 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24712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50">
                <a:solidFill>
                  <a:srgbClr val="8C948B"/>
                </a:solidFill>
                <a:latin typeface="Calibri"/>
              </a:defRPr>
            </a:pPr>
            <a:r>
              <a:t>Grounded conversational environmental intelligence with 100% offline resilience and a structured 3-minute hackathon demo.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10728655" cy="2057400"/>
          </a:xfrm>
          <a:prstGeom prst="roundRect">
            <a:avLst/>
          </a:prstGeom>
          <a:solidFill>
            <a:srgbClr val="191C19"/>
          </a:solidFill>
          <a:ln w="1524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10362895" cy="1874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A855F7"/>
                </a:solidFill>
              </a:defRPr>
            </a:pPr>
            <a:r>
              <a:t>🤖 FRONT PILLAR 5: VAYUAI CONVERSATIONAL ATMOSPHERIC COPILOT</a:t>
            </a:r>
          </a:p>
          <a:p>
            <a:pPr>
              <a:spcBef>
                <a:spcPts val="300"/>
              </a:spcBef>
              <a:defRPr sz="919">
                <a:solidFill>
                  <a:srgbClr val="EEF0EC"/>
                </a:solidFill>
              </a:defRPr>
            </a:pPr>
            <a:r>
              <a:t>• Domain-Grounded Environmental LLM: Connects live CPCB monitoring station readings, weather telemetry, and MoES health thresholds to answer citizen questions in natural language.</a:t>
            </a:r>
          </a:p>
          <a:p>
            <a:pPr>
              <a:spcBef>
                <a:spcPts val="300"/>
              </a:spcBef>
              <a:defRPr sz="919">
                <a:solidFill>
                  <a:srgbClr val="EEF0EC"/>
                </a:solidFill>
              </a:defRPr>
            </a:pPr>
            <a:r>
              <a:t>• One-Tap Quick Action Prompts: Pre-configured prompt pills for instant answers: '🏃 Morning Jogging Safety' • '🌤️ Tomorrow's Air Outlook' • '🧭 Clean Route to Gurgaon' • '👶 Health Advice for Kids'.</a:t>
            </a:r>
          </a:p>
          <a:p>
            <a:pPr>
              <a:spcBef>
                <a:spcPts val="300"/>
              </a:spcBef>
              <a:defRPr sz="919">
                <a:solidFill>
                  <a:srgbClr val="EEF0EC"/>
                </a:solidFill>
              </a:defRPr>
            </a:pPr>
            <a:r>
              <a:t>• Contextual, Evidence-Grounded Advice: Generates concise, actionable 2-sentence recommendations instead of generic search snippets (e.g., 'Current AQI at Punjabi Bagh is 157. Morning jog is acceptable for healthy adults, but asthmatics should avoid outdoor cardio before 8 AM').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730752"/>
            <a:ext cx="5230368" cy="2468880"/>
          </a:xfrm>
          <a:prstGeom prst="roundRect">
            <a:avLst/>
          </a:prstGeom>
          <a:solidFill>
            <a:srgbClr val="191C19"/>
          </a:solidFill>
          <a:ln w="15240">
            <a:solidFill>
              <a:srgbClr val="8FFFB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822191"/>
            <a:ext cx="4956048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8FFFB0"/>
                </a:solidFill>
              </a:defRPr>
            </a:pPr>
            <a:r>
              <a:t>💻 PRODUCTION SUITE &amp; OFFLINE RESILIENCE</a:t>
            </a:r>
          </a:p>
          <a:p>
            <a:pPr>
              <a:spcBef>
                <a:spcPts val="250"/>
              </a:spcBef>
              <a:defRPr sz="880">
                <a:solidFill>
                  <a:srgbClr val="EEF0EC"/>
                </a:solidFill>
              </a:defRPr>
            </a:pPr>
            <a:r>
              <a:t>• Live Production Web App: Deployed on Vercel at https://vayucoupler.vercel.app with instant CDN edge caching.</a:t>
            </a:r>
          </a:p>
          <a:p>
            <a:pPr>
              <a:spcBef>
                <a:spcPts val="250"/>
              </a:spcBef>
              <a:defRPr sz="880">
                <a:solidFill>
                  <a:srgbClr val="EEF0EC"/>
                </a:solidFill>
              </a:defRPr>
            </a:pPr>
            <a:r>
              <a:t>• Windows Standalone Offline Client: Single-file executable client (VayuCoupler_Windows_Offline_App.html) with zero install and zero setup for seamless hackathon jury evaluation.</a:t>
            </a:r>
          </a:p>
          <a:p>
            <a:pPr>
              <a:spcBef>
                <a:spcPts val="250"/>
              </a:spcBef>
              <a:defRPr sz="880">
                <a:solidFill>
                  <a:srgbClr val="EEF0EC"/>
                </a:solidFill>
              </a:defRPr>
            </a:pPr>
            <a:r>
              <a:t>• Standalone Mobile App: Ultra-fast phone-first web application with local storage caching.</a:t>
            </a:r>
          </a:p>
          <a:p>
            <a:pPr>
              <a:spcBef>
                <a:spcPts val="250"/>
              </a:spcBef>
              <a:defRPr sz="880">
                <a:solidFill>
                  <a:srgbClr val="EEF0EC"/>
                </a:solidFill>
              </a:defRPr>
            </a:pPr>
            <a:r>
              <a:t>• Open-Source GitHub Repository: Complete verified codebase at github.com/vivek-glitch15/VayuCoupler.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29807" y="3730752"/>
            <a:ext cx="5230368" cy="2468880"/>
          </a:xfrm>
          <a:prstGeom prst="roundRect">
            <a:avLst/>
          </a:prstGeom>
          <a:solidFill>
            <a:srgbClr val="191C19"/>
          </a:solidFill>
          <a:ln w="15240">
            <a:solidFill>
              <a:srgbClr val="00E5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66967" y="3822191"/>
            <a:ext cx="4956048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0E5FF"/>
                </a:solidFill>
              </a:defRPr>
            </a:pPr>
            <a:r>
              <a:t>⏱️ 3-MINUTE HACKATHON JURY DEMONSTRATION SCRIPT</a:t>
            </a:r>
          </a:p>
          <a:p>
            <a:pPr>
              <a:spcBef>
                <a:spcPts val="200"/>
              </a:spcBef>
              <a:defRPr sz="840">
                <a:solidFill>
                  <a:srgbClr val="EEF0EC"/>
                </a:solidFill>
              </a:defRPr>
            </a:pPr>
            <a:r>
              <a:t>0:00 - 0:45 | Home Cockpit: Open app. Showcase Ambient Halo AQI meter (157), switch station to Punjabi Bagh, inspect category badge and 3-Day Forecast strip.</a:t>
            </a:r>
          </a:p>
          <a:p>
            <a:pPr>
              <a:spcBef>
                <a:spcPts val="200"/>
              </a:spcBef>
              <a:defRPr sz="840">
                <a:solidFill>
                  <a:srgbClr val="EEF0EC"/>
                </a:solidFill>
              </a:defRPr>
            </a:pPr>
            <a:r>
              <a:t>0:45 - 1:30 | Weather Engine: Tap Weather tab. Demonstrate °C/°F toggle, 4 microclimate cards (Rain %, Wind, Humidity %, UV), 8-day outlook and hourly scrubber.</a:t>
            </a:r>
          </a:p>
          <a:p>
            <a:pPr>
              <a:spcBef>
                <a:spcPts val="200"/>
              </a:spcBef>
              <a:defRPr sz="840">
                <a:solidFill>
                  <a:srgbClr val="EEF0EC"/>
                </a:solidFill>
              </a:defRPr>
            </a:pPr>
            <a:r>
              <a:t>1:30 - 2:15 | Map &amp; Safe Commute: Tap Map to inspect 40+ Delhi-NCR stations. Switch to Commute tab: show Cleanest vs Fastest route saving 42% inhaled PM2.5!</a:t>
            </a:r>
          </a:p>
          <a:p>
            <a:pPr>
              <a:spcBef>
                <a:spcPts val="200"/>
              </a:spcBef>
              <a:defRPr sz="840">
                <a:solidFill>
                  <a:srgbClr val="EEF0EC"/>
                </a:solidFill>
              </a:defRPr>
            </a:pPr>
            <a:r>
              <a:t>2:15 - 3:00 | VayuAI Assistant: Tap VayuAI tab. Click 'Is it safe for morning jog?' and show instant grounded response. Open for Jury Q&amp;A!</a:t>
            </a:r>
          </a:p>
          <a:p>
            <a:pPr>
              <a:spcBef>
                <a:spcPts val="400"/>
              </a:spcBef>
              <a:defRPr b="1" sz="919">
                <a:solidFill>
                  <a:srgbClr val="8FFFB0"/>
                </a:solidFill>
              </a:defRPr>
            </a:pPr>
            <a:r>
              <a:t>Team AtomX thanks the Jury! Live Web: https://vayucoupler.vercel.app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327648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850" b="1">
                <a:solidFill>
                  <a:srgbClr val="8C948B"/>
                </a:solidFill>
                <a:latin typeface="Calibri"/>
              </a:defRPr>
            </a:pPr>
            <a:r>
              <a:t>SMART INDIA HACKATHON 2026 | PS ID: SIH26082 | MoES | TEAM ATOMX: VAYUCOUPLER</a:t>
            </a:r>
          </a:p>
          <a:p>
            <a:pPr algn="r">
              <a:defRPr sz="850">
                <a:solidFill>
                  <a:srgbClr val="8FFFB0"/>
                </a:solidFill>
                <a:latin typeface="Calibri"/>
              </a:defRPr>
            </a:pPr>
            <a:r>
              <a:t>Page 6 of 6  •  Production: https://vayucoupler.vercel.app  •  GitHub: vivek-glitch15/VayuCoupler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